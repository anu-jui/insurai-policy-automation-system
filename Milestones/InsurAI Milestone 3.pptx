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3"/>
  </p:notesMasterIdLst>
  <p:sldIdLst>
    <p:sldId id="256" r:id="rId2"/>
    <p:sldId id="258" r:id="rId3"/>
    <p:sldId id="257"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0" d="100"/>
          <a:sy n="100" d="100"/>
        </p:scale>
        <p:origin x="9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194B03-1323-4F56-B178-842BBAD30F59}" type="datetimeFigureOut">
              <a:rPr lang="en-IN" smtClean="0"/>
              <a:t>03-01-2026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99B088-0E91-46C2-9B81-33A28EE6F172}" type="slidenum">
              <a:rPr lang="en-IN" smtClean="0"/>
              <a:t>‹#›</a:t>
            </a:fld>
            <a:endParaRPr lang="en-IN"/>
          </a:p>
        </p:txBody>
      </p:sp>
    </p:spTree>
    <p:extLst>
      <p:ext uri="{BB962C8B-B14F-4D97-AF65-F5344CB8AC3E}">
        <p14:creationId xmlns:p14="http://schemas.microsoft.com/office/powerpoint/2010/main" val="3948270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99B088-0E91-46C2-9B81-33A28EE6F172}" type="slidenum">
              <a:rPr lang="en-IN" smtClean="0"/>
              <a:t>3</a:t>
            </a:fld>
            <a:endParaRPr lang="en-IN"/>
          </a:p>
        </p:txBody>
      </p:sp>
    </p:spTree>
    <p:extLst>
      <p:ext uri="{BB962C8B-B14F-4D97-AF65-F5344CB8AC3E}">
        <p14:creationId xmlns:p14="http://schemas.microsoft.com/office/powerpoint/2010/main" val="603093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FB5ABBE-C149-4D51-936B-32753CED3972}"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A0B7F0-E804-4FEB-9752-BA6E9D1DF31F}"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5688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B5ABBE-C149-4D51-936B-32753CED3972}"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A0B7F0-E804-4FEB-9752-BA6E9D1DF31F}" type="slidenum">
              <a:rPr lang="en-IN" smtClean="0"/>
              <a:t>‹#›</a:t>
            </a:fld>
            <a:endParaRPr lang="en-IN"/>
          </a:p>
        </p:txBody>
      </p:sp>
    </p:spTree>
    <p:extLst>
      <p:ext uri="{BB962C8B-B14F-4D97-AF65-F5344CB8AC3E}">
        <p14:creationId xmlns:p14="http://schemas.microsoft.com/office/powerpoint/2010/main" val="4161445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B5ABBE-C149-4D51-936B-32753CED3972}"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A0B7F0-E804-4FEB-9752-BA6E9D1DF31F}" type="slidenum">
              <a:rPr lang="en-IN" smtClean="0"/>
              <a:t>‹#›</a:t>
            </a:fld>
            <a:endParaRPr lang="en-IN"/>
          </a:p>
        </p:txBody>
      </p:sp>
    </p:spTree>
    <p:extLst>
      <p:ext uri="{BB962C8B-B14F-4D97-AF65-F5344CB8AC3E}">
        <p14:creationId xmlns:p14="http://schemas.microsoft.com/office/powerpoint/2010/main" val="2028738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FB5ABBE-C149-4D51-936B-32753CED3972}"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A0B7F0-E804-4FEB-9752-BA6E9D1DF31F}" type="slidenum">
              <a:rPr lang="en-IN" smtClean="0"/>
              <a:t>‹#›</a:t>
            </a:fld>
            <a:endParaRPr lang="en-IN"/>
          </a:p>
        </p:txBody>
      </p:sp>
    </p:spTree>
    <p:extLst>
      <p:ext uri="{BB962C8B-B14F-4D97-AF65-F5344CB8AC3E}">
        <p14:creationId xmlns:p14="http://schemas.microsoft.com/office/powerpoint/2010/main" val="3856302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FB5ABBE-C149-4D51-936B-32753CED3972}" type="datetimeFigureOut">
              <a:rPr lang="en-IN" smtClean="0"/>
              <a:t>03-01-2026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2A0B7F0-E804-4FEB-9752-BA6E9D1DF31F}" type="slidenum">
              <a:rPr lang="en-IN" smtClean="0"/>
              <a:t>‹#›</a:t>
            </a:fld>
            <a:endParaRPr lang="en-IN"/>
          </a:p>
        </p:txBody>
      </p:sp>
    </p:spTree>
    <p:extLst>
      <p:ext uri="{BB962C8B-B14F-4D97-AF65-F5344CB8AC3E}">
        <p14:creationId xmlns:p14="http://schemas.microsoft.com/office/powerpoint/2010/main" val="2529612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FB5ABBE-C149-4D51-936B-32753CED3972}" type="datetimeFigureOut">
              <a:rPr lang="en-IN" smtClean="0"/>
              <a:t>03-01-2026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2A0B7F0-E804-4FEB-9752-BA6E9D1DF31F}" type="slidenum">
              <a:rPr lang="en-IN" smtClean="0"/>
              <a:t>‹#›</a:t>
            </a:fld>
            <a:endParaRPr lang="en-IN"/>
          </a:p>
        </p:txBody>
      </p:sp>
    </p:spTree>
    <p:extLst>
      <p:ext uri="{BB962C8B-B14F-4D97-AF65-F5344CB8AC3E}">
        <p14:creationId xmlns:p14="http://schemas.microsoft.com/office/powerpoint/2010/main" val="861773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B5ABBE-C149-4D51-936B-32753CED3972}" type="datetimeFigureOut">
              <a:rPr lang="en-IN" smtClean="0"/>
              <a:t>03-01-2026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2A0B7F0-E804-4FEB-9752-BA6E9D1DF31F}" type="slidenum">
              <a:rPr lang="en-IN" smtClean="0"/>
              <a:t>‹#›</a:t>
            </a:fld>
            <a:endParaRPr lang="en-IN"/>
          </a:p>
        </p:txBody>
      </p:sp>
    </p:spTree>
    <p:extLst>
      <p:ext uri="{BB962C8B-B14F-4D97-AF65-F5344CB8AC3E}">
        <p14:creationId xmlns:p14="http://schemas.microsoft.com/office/powerpoint/2010/main" val="1734564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B5ABBE-C149-4D51-936B-32753CED3972}"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A0B7F0-E804-4FEB-9752-BA6E9D1DF31F}" type="slidenum">
              <a:rPr lang="en-IN" smtClean="0"/>
              <a:t>‹#›</a:t>
            </a:fld>
            <a:endParaRPr lang="en-IN"/>
          </a:p>
        </p:txBody>
      </p:sp>
    </p:spTree>
    <p:extLst>
      <p:ext uri="{BB962C8B-B14F-4D97-AF65-F5344CB8AC3E}">
        <p14:creationId xmlns:p14="http://schemas.microsoft.com/office/powerpoint/2010/main" val="4192501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B5ABBE-C149-4D51-936B-32753CED3972}"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A0B7F0-E804-4FEB-9752-BA6E9D1DF31F}" type="slidenum">
              <a:rPr lang="en-IN" smtClean="0"/>
              <a:t>‹#›</a:t>
            </a:fld>
            <a:endParaRPr lang="en-IN"/>
          </a:p>
        </p:txBody>
      </p:sp>
    </p:spTree>
    <p:extLst>
      <p:ext uri="{BB962C8B-B14F-4D97-AF65-F5344CB8AC3E}">
        <p14:creationId xmlns:p14="http://schemas.microsoft.com/office/powerpoint/2010/main" val="3246307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DFB5ABBE-C149-4D51-936B-32753CED3972}" type="datetimeFigureOut">
              <a:rPr lang="en-IN" smtClean="0"/>
              <a:t>03-01-2026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2A0B7F0-E804-4FEB-9752-BA6E9D1DF31F}" type="slidenum">
              <a:rPr lang="en-IN" smtClean="0"/>
              <a:t>‹#›</a:t>
            </a:fld>
            <a:endParaRPr lang="en-IN"/>
          </a:p>
        </p:txBody>
      </p:sp>
    </p:spTree>
    <p:extLst>
      <p:ext uri="{BB962C8B-B14F-4D97-AF65-F5344CB8AC3E}">
        <p14:creationId xmlns:p14="http://schemas.microsoft.com/office/powerpoint/2010/main" val="2599740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B5ABBE-C149-4D51-936B-32753CED3972}"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A0B7F0-E804-4FEB-9752-BA6E9D1DF31F}" type="slidenum">
              <a:rPr lang="en-IN" smtClean="0"/>
              <a:t>‹#›</a:t>
            </a:fld>
            <a:endParaRPr lang="en-IN"/>
          </a:p>
        </p:txBody>
      </p:sp>
    </p:spTree>
    <p:extLst>
      <p:ext uri="{BB962C8B-B14F-4D97-AF65-F5344CB8AC3E}">
        <p14:creationId xmlns:p14="http://schemas.microsoft.com/office/powerpoint/2010/main" val="2776713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B5ABBE-C149-4D51-936B-32753CED3972}"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A0B7F0-E804-4FEB-9752-BA6E9D1DF31F}"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4621793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B5ABBE-C149-4D51-936B-32753CED3972}"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A0B7F0-E804-4FEB-9752-BA6E9D1DF31F}" type="slidenum">
              <a:rPr lang="en-IN" smtClean="0"/>
              <a:t>‹#›</a:t>
            </a:fld>
            <a:endParaRPr lang="en-IN"/>
          </a:p>
        </p:txBody>
      </p:sp>
    </p:spTree>
    <p:extLst>
      <p:ext uri="{BB962C8B-B14F-4D97-AF65-F5344CB8AC3E}">
        <p14:creationId xmlns:p14="http://schemas.microsoft.com/office/powerpoint/2010/main" val="4059097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B5ABBE-C149-4D51-936B-32753CED3972}"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A0B7F0-E804-4FEB-9752-BA6E9D1DF31F}"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3889255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B5ABBE-C149-4D51-936B-32753CED3972}"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A0B7F0-E804-4FEB-9752-BA6E9D1DF31F}" type="slidenum">
              <a:rPr lang="en-IN" smtClean="0"/>
              <a:t>‹#›</a:t>
            </a:fld>
            <a:endParaRPr lang="en-IN"/>
          </a:p>
        </p:txBody>
      </p:sp>
    </p:spTree>
    <p:extLst>
      <p:ext uri="{BB962C8B-B14F-4D97-AF65-F5344CB8AC3E}">
        <p14:creationId xmlns:p14="http://schemas.microsoft.com/office/powerpoint/2010/main" val="5791607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B5ABBE-C149-4D51-936B-32753CED3972}"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A0B7F0-E804-4FEB-9752-BA6E9D1DF31F}" type="slidenum">
              <a:rPr lang="en-IN" smtClean="0"/>
              <a:t>‹#›</a:t>
            </a:fld>
            <a:endParaRPr lang="en-IN"/>
          </a:p>
        </p:txBody>
      </p:sp>
    </p:spTree>
    <p:extLst>
      <p:ext uri="{BB962C8B-B14F-4D97-AF65-F5344CB8AC3E}">
        <p14:creationId xmlns:p14="http://schemas.microsoft.com/office/powerpoint/2010/main" val="19392866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B5ABBE-C149-4D51-936B-32753CED3972}"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A0B7F0-E804-4FEB-9752-BA6E9D1DF31F}" type="slidenum">
              <a:rPr lang="en-IN" smtClean="0"/>
              <a:t>‹#›</a:t>
            </a:fld>
            <a:endParaRPr lang="en-IN"/>
          </a:p>
        </p:txBody>
      </p:sp>
    </p:spTree>
    <p:extLst>
      <p:ext uri="{BB962C8B-B14F-4D97-AF65-F5344CB8AC3E}">
        <p14:creationId xmlns:p14="http://schemas.microsoft.com/office/powerpoint/2010/main" val="982819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DFB5ABBE-C149-4D51-936B-32753CED3972}" type="datetimeFigureOut">
              <a:rPr lang="en-IN" smtClean="0"/>
              <a:t>03-01-2026</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E2A0B7F0-E804-4FEB-9752-BA6E9D1DF31F}" type="slidenum">
              <a:rPr lang="en-IN" smtClean="0"/>
              <a:t>‹#›</a:t>
            </a:fld>
            <a:endParaRPr lang="en-IN"/>
          </a:p>
        </p:txBody>
      </p:sp>
    </p:spTree>
    <p:extLst>
      <p:ext uri="{BB962C8B-B14F-4D97-AF65-F5344CB8AC3E}">
        <p14:creationId xmlns:p14="http://schemas.microsoft.com/office/powerpoint/2010/main" val="20045540"/>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50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50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50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4pPr>
      <a:lvl5pPr marL="21145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BCE21-DCFF-5BD7-6295-350E36B217E7}"/>
              </a:ext>
            </a:extLst>
          </p:cNvPr>
          <p:cNvSpPr>
            <a:spLocks noGrp="1"/>
          </p:cNvSpPr>
          <p:nvPr>
            <p:ph type="ctrTitle"/>
          </p:nvPr>
        </p:nvSpPr>
        <p:spPr>
          <a:xfrm>
            <a:off x="684212" y="685800"/>
            <a:ext cx="8001000" cy="2486026"/>
          </a:xfrm>
        </p:spPr>
        <p:txBody>
          <a:bodyPr/>
          <a:lstStyle/>
          <a:p>
            <a:r>
              <a:rPr lang="en-US" b="1" dirty="0" err="1">
                <a:solidFill>
                  <a:schemeClr val="accent1">
                    <a:lumMod val="75000"/>
                  </a:schemeClr>
                </a:solidFill>
              </a:rPr>
              <a:t>InsurAI</a:t>
            </a:r>
            <a:r>
              <a:rPr lang="en-US" b="1" dirty="0">
                <a:solidFill>
                  <a:schemeClr val="accent1">
                    <a:lumMod val="75000"/>
                  </a:schemeClr>
                </a:solidFill>
              </a:rPr>
              <a:t> Milestone 3</a:t>
            </a:r>
            <a:endParaRPr lang="en-IN" b="1" dirty="0">
              <a:solidFill>
                <a:schemeClr val="accent1">
                  <a:lumMod val="75000"/>
                </a:schemeClr>
              </a:solidFill>
            </a:endParaRPr>
          </a:p>
        </p:txBody>
      </p:sp>
      <p:sp>
        <p:nvSpPr>
          <p:cNvPr id="3" name="Subtitle 2">
            <a:extLst>
              <a:ext uri="{FF2B5EF4-FFF2-40B4-BE49-F238E27FC236}">
                <a16:creationId xmlns:a16="http://schemas.microsoft.com/office/drawing/2014/main" id="{720F8757-909D-135D-252D-62535A4354CD}"/>
              </a:ext>
            </a:extLst>
          </p:cNvPr>
          <p:cNvSpPr>
            <a:spLocks noGrp="1"/>
          </p:cNvSpPr>
          <p:nvPr>
            <p:ph type="subTitle" idx="1"/>
          </p:nvPr>
        </p:nvSpPr>
        <p:spPr>
          <a:xfrm>
            <a:off x="684211" y="3305174"/>
            <a:ext cx="7097713" cy="1947333"/>
          </a:xfrm>
        </p:spPr>
        <p:txBody>
          <a:bodyPr/>
          <a:lstStyle/>
          <a:p>
            <a:r>
              <a:rPr lang="en-US" b="1" i="1" dirty="0">
                <a:solidFill>
                  <a:schemeClr val="tx1"/>
                </a:solidFill>
              </a:rPr>
              <a:t>End to End Execution Flow of Backend Architecture</a:t>
            </a:r>
          </a:p>
          <a:p>
            <a:r>
              <a:rPr lang="en-US" b="1" i="1" dirty="0"/>
              <a:t>Presented by – Anushka Dutta</a:t>
            </a:r>
            <a:endParaRPr lang="en-IN" b="1" i="1" dirty="0"/>
          </a:p>
        </p:txBody>
      </p:sp>
    </p:spTree>
    <p:extLst>
      <p:ext uri="{BB962C8B-B14F-4D97-AF65-F5344CB8AC3E}">
        <p14:creationId xmlns:p14="http://schemas.microsoft.com/office/powerpoint/2010/main" val="3949441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AD10CC-4BBF-3BE6-A91D-816D72FC00B5}"/>
              </a:ext>
            </a:extLst>
          </p:cNvPr>
          <p:cNvSpPr txBox="1"/>
          <p:nvPr/>
        </p:nvSpPr>
        <p:spPr>
          <a:xfrm>
            <a:off x="342900" y="962026"/>
            <a:ext cx="11049000" cy="3016210"/>
          </a:xfrm>
          <a:prstGeom prst="rect">
            <a:avLst/>
          </a:prstGeom>
          <a:noFill/>
        </p:spPr>
        <p:txBody>
          <a:bodyPr wrap="square">
            <a:spAutoFit/>
          </a:bodyPr>
          <a:lstStyle/>
          <a:p>
            <a:pPr algn="ctr">
              <a:buNone/>
            </a:pPr>
            <a:r>
              <a:rPr lang="en-IN" sz="2800" b="1" dirty="0">
                <a:solidFill>
                  <a:schemeClr val="accent1">
                    <a:lumMod val="75000"/>
                  </a:schemeClr>
                </a:solidFill>
              </a:rPr>
              <a:t>High-Level System Architecture</a:t>
            </a:r>
          </a:p>
          <a:p>
            <a:pPr algn="ctr">
              <a:buNone/>
            </a:pPr>
            <a:endParaRPr lang="en-IN" b="1" dirty="0"/>
          </a:p>
          <a:p>
            <a:pPr algn="ctr">
              <a:buNone/>
            </a:pPr>
            <a:endParaRPr lang="en-IN" b="1" dirty="0"/>
          </a:p>
          <a:p>
            <a:pPr algn="ctr">
              <a:buNone/>
            </a:pPr>
            <a:endParaRPr lang="en-IN" b="1" dirty="0"/>
          </a:p>
          <a:p>
            <a:pPr>
              <a:buFont typeface="Arial" panose="020B0604020202020204" pitchFamily="34" charset="0"/>
              <a:buChar char="•"/>
            </a:pPr>
            <a:r>
              <a:rPr lang="en-IN" b="1" dirty="0">
                <a:solidFill>
                  <a:srgbClr val="002060"/>
                </a:solidFill>
              </a:rPr>
              <a:t>Frontend (</a:t>
            </a:r>
            <a:r>
              <a:rPr lang="en-IN" b="1" i="1" dirty="0">
                <a:solidFill>
                  <a:srgbClr val="002060"/>
                </a:solidFill>
              </a:rPr>
              <a:t>Client Side</a:t>
            </a:r>
            <a:r>
              <a:rPr lang="en-IN" b="1" dirty="0">
                <a:solidFill>
                  <a:srgbClr val="002060"/>
                </a:solidFill>
              </a:rPr>
              <a:t>):</a:t>
            </a:r>
            <a:r>
              <a:rPr lang="en-IN" dirty="0">
                <a:solidFill>
                  <a:srgbClr val="002060"/>
                </a:solidFill>
              </a:rPr>
              <a:t> Developed using </a:t>
            </a:r>
            <a:r>
              <a:rPr lang="en-IN" b="1" dirty="0">
                <a:solidFill>
                  <a:srgbClr val="002060"/>
                </a:solidFill>
              </a:rPr>
              <a:t>React.js</a:t>
            </a:r>
            <a:r>
              <a:rPr lang="en-IN" dirty="0">
                <a:solidFill>
                  <a:srgbClr val="002060"/>
                </a:solidFill>
              </a:rPr>
              <a:t>, handling user interactions and routing via </a:t>
            </a:r>
            <a:r>
              <a:rPr lang="en-IN" b="1" dirty="0">
                <a:solidFill>
                  <a:srgbClr val="002060"/>
                </a:solidFill>
              </a:rPr>
              <a:t>React Router</a:t>
            </a:r>
            <a:r>
              <a:rPr lang="en-IN" dirty="0">
                <a:solidFill>
                  <a:srgbClr val="002060"/>
                </a:solidFill>
              </a:rPr>
              <a:t>.</a:t>
            </a:r>
          </a:p>
          <a:p>
            <a:pPr>
              <a:buFont typeface="Arial" panose="020B0604020202020204" pitchFamily="34" charset="0"/>
              <a:buChar char="•"/>
            </a:pPr>
            <a:r>
              <a:rPr lang="en-IN" b="1" dirty="0">
                <a:solidFill>
                  <a:srgbClr val="002060"/>
                </a:solidFill>
              </a:rPr>
              <a:t>Backend (</a:t>
            </a:r>
            <a:r>
              <a:rPr lang="en-IN" b="1" i="1" dirty="0">
                <a:solidFill>
                  <a:srgbClr val="002060"/>
                </a:solidFill>
              </a:rPr>
              <a:t>Server Side</a:t>
            </a:r>
            <a:r>
              <a:rPr lang="en-IN" b="1" dirty="0">
                <a:solidFill>
                  <a:srgbClr val="002060"/>
                </a:solidFill>
              </a:rPr>
              <a:t>):</a:t>
            </a:r>
            <a:r>
              <a:rPr lang="en-IN" dirty="0">
                <a:solidFill>
                  <a:srgbClr val="002060"/>
                </a:solidFill>
              </a:rPr>
              <a:t> Built with </a:t>
            </a:r>
            <a:r>
              <a:rPr lang="en-IN" b="1" dirty="0">
                <a:solidFill>
                  <a:srgbClr val="002060"/>
                </a:solidFill>
              </a:rPr>
              <a:t>Spring Boot</a:t>
            </a:r>
            <a:r>
              <a:rPr lang="en-IN" dirty="0">
                <a:solidFill>
                  <a:srgbClr val="002060"/>
                </a:solidFill>
              </a:rPr>
              <a:t>, following a layered architecture (Controller, Service, Repository).</a:t>
            </a:r>
          </a:p>
          <a:p>
            <a:pPr>
              <a:buFont typeface="Arial" panose="020B0604020202020204" pitchFamily="34" charset="0"/>
              <a:buChar char="•"/>
            </a:pPr>
            <a:r>
              <a:rPr lang="en-IN" b="1" dirty="0">
                <a:solidFill>
                  <a:srgbClr val="002060"/>
                </a:solidFill>
              </a:rPr>
              <a:t>Communication:</a:t>
            </a:r>
            <a:r>
              <a:rPr lang="en-IN" dirty="0">
                <a:solidFill>
                  <a:srgbClr val="002060"/>
                </a:solidFill>
              </a:rPr>
              <a:t> RESTful API calls using JSON for data exchange.</a:t>
            </a:r>
          </a:p>
          <a:p>
            <a:pPr>
              <a:buFont typeface="Arial" panose="020B0604020202020204" pitchFamily="34" charset="0"/>
              <a:buChar char="•"/>
            </a:pPr>
            <a:r>
              <a:rPr lang="en-IN" b="1" dirty="0">
                <a:solidFill>
                  <a:srgbClr val="002060"/>
                </a:solidFill>
              </a:rPr>
              <a:t>Database:</a:t>
            </a:r>
            <a:r>
              <a:rPr lang="en-IN" dirty="0">
                <a:solidFill>
                  <a:srgbClr val="002060"/>
                </a:solidFill>
              </a:rPr>
              <a:t> Persistent storage via </a:t>
            </a:r>
            <a:r>
              <a:rPr lang="en-IN" b="1" dirty="0">
                <a:solidFill>
                  <a:srgbClr val="002060"/>
                </a:solidFill>
              </a:rPr>
              <a:t>Spring Data JPA</a:t>
            </a:r>
            <a:r>
              <a:rPr lang="en-IN" dirty="0">
                <a:solidFill>
                  <a:srgbClr val="002060"/>
                </a:solidFill>
              </a:rPr>
              <a:t> (Java Persistence API).</a:t>
            </a:r>
          </a:p>
        </p:txBody>
      </p:sp>
    </p:spTree>
    <p:extLst>
      <p:ext uri="{BB962C8B-B14F-4D97-AF65-F5344CB8AC3E}">
        <p14:creationId xmlns:p14="http://schemas.microsoft.com/office/powerpoint/2010/main" val="1827813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4A8F0B-75F4-482A-A63C-DDD835031FBE}"/>
              </a:ext>
            </a:extLst>
          </p:cNvPr>
          <p:cNvSpPr txBox="1"/>
          <p:nvPr/>
        </p:nvSpPr>
        <p:spPr>
          <a:xfrm>
            <a:off x="180974" y="152399"/>
            <a:ext cx="11839575" cy="2339102"/>
          </a:xfrm>
          <a:prstGeom prst="rect">
            <a:avLst/>
          </a:prstGeom>
          <a:noFill/>
        </p:spPr>
        <p:txBody>
          <a:bodyPr wrap="square">
            <a:spAutoFit/>
          </a:bodyPr>
          <a:lstStyle/>
          <a:p>
            <a:pPr algn="ctr">
              <a:buNone/>
            </a:pPr>
            <a:r>
              <a:rPr lang="en-US" sz="2000" b="1" dirty="0">
                <a:solidFill>
                  <a:schemeClr val="accent1">
                    <a:lumMod val="75000"/>
                  </a:schemeClr>
                </a:solidFill>
              </a:rPr>
              <a:t>The Execution Flow: Phase 1 (Frontend Action)</a:t>
            </a:r>
          </a:p>
          <a:p>
            <a:pPr>
              <a:buNone/>
            </a:pPr>
            <a:endParaRPr lang="en-US" b="1" dirty="0"/>
          </a:p>
          <a:p>
            <a:pPr>
              <a:buFont typeface="Arial" panose="020B0604020202020204" pitchFamily="34" charset="0"/>
              <a:buChar char="•"/>
            </a:pPr>
            <a:r>
              <a:rPr lang="en-US" b="1" dirty="0">
                <a:solidFill>
                  <a:srgbClr val="002060"/>
                </a:solidFill>
              </a:rPr>
              <a:t>User Trigger:</a:t>
            </a:r>
            <a:r>
              <a:rPr lang="en-US" dirty="0">
                <a:solidFill>
                  <a:srgbClr val="002060"/>
                </a:solidFill>
              </a:rPr>
              <a:t> The user clicks the </a:t>
            </a:r>
            <a:r>
              <a:rPr lang="en-US" b="1" dirty="0">
                <a:solidFill>
                  <a:srgbClr val="002060"/>
                </a:solidFill>
              </a:rPr>
              <a:t>"Get Started"</a:t>
            </a:r>
            <a:r>
              <a:rPr lang="en-US" dirty="0">
                <a:solidFill>
                  <a:srgbClr val="002060"/>
                </a:solidFill>
              </a:rPr>
              <a:t> button on the Homepage.</a:t>
            </a:r>
          </a:p>
          <a:p>
            <a:pPr>
              <a:buFont typeface="Arial" panose="020B0604020202020204" pitchFamily="34" charset="0"/>
              <a:buChar char="•"/>
            </a:pPr>
            <a:r>
              <a:rPr lang="en-US" b="1" dirty="0">
                <a:solidFill>
                  <a:srgbClr val="002060"/>
                </a:solidFill>
              </a:rPr>
              <a:t>Client-Side Routing:</a:t>
            </a:r>
            <a:r>
              <a:rPr lang="en-US" dirty="0">
                <a:solidFill>
                  <a:srgbClr val="002060"/>
                </a:solidFill>
              </a:rPr>
              <a:t> React Router intercepts the click and navigates the user to the </a:t>
            </a:r>
            <a:r>
              <a:rPr lang="en-US" dirty="0">
                <a:solidFill>
                  <a:srgbClr val="002060"/>
                </a:solidFill>
                <a:latin typeface="Courier New" panose="02070309020205020404" pitchFamily="49" charset="0"/>
              </a:rPr>
              <a:t>/employee/register</a:t>
            </a:r>
            <a:r>
              <a:rPr lang="en-US" dirty="0">
                <a:solidFill>
                  <a:srgbClr val="002060"/>
                </a:solidFill>
              </a:rPr>
              <a:t> route.</a:t>
            </a:r>
          </a:p>
          <a:p>
            <a:pPr>
              <a:buFont typeface="Arial" panose="020B0604020202020204" pitchFamily="34" charset="0"/>
              <a:buChar char="•"/>
            </a:pPr>
            <a:r>
              <a:rPr lang="en-US" b="1" dirty="0">
                <a:solidFill>
                  <a:srgbClr val="002060"/>
                </a:solidFill>
              </a:rPr>
              <a:t>Data Capture:</a:t>
            </a:r>
            <a:r>
              <a:rPr lang="en-US" dirty="0">
                <a:solidFill>
                  <a:srgbClr val="002060"/>
                </a:solidFill>
              </a:rPr>
              <a:t> The user fills out the registration form; the data is stored in the React component's state.</a:t>
            </a:r>
          </a:p>
          <a:p>
            <a:pPr>
              <a:buFont typeface="Arial" panose="020B0604020202020204" pitchFamily="34" charset="0"/>
              <a:buChar char="•"/>
            </a:pPr>
            <a:r>
              <a:rPr lang="en-US" b="1" dirty="0">
                <a:solidFill>
                  <a:srgbClr val="002060"/>
                </a:solidFill>
              </a:rPr>
              <a:t>API Dispatch:</a:t>
            </a:r>
            <a:r>
              <a:rPr lang="en-US" dirty="0">
                <a:solidFill>
                  <a:srgbClr val="002060"/>
                </a:solidFill>
              </a:rPr>
              <a:t> Upon form submission, an </a:t>
            </a:r>
            <a:r>
              <a:rPr lang="en-US" b="1" dirty="0">
                <a:solidFill>
                  <a:srgbClr val="002060"/>
                </a:solidFill>
              </a:rPr>
              <a:t>HTTP POST</a:t>
            </a:r>
            <a:r>
              <a:rPr lang="en-US" dirty="0">
                <a:solidFill>
                  <a:srgbClr val="002060"/>
                </a:solidFill>
              </a:rPr>
              <a:t> request is sent to the backend endpoint (e.g., </a:t>
            </a:r>
            <a:r>
              <a:rPr lang="en-US" dirty="0">
                <a:solidFill>
                  <a:srgbClr val="002060"/>
                </a:solidFill>
                <a:latin typeface="Courier New" panose="02070309020205020404" pitchFamily="49" charset="0"/>
              </a:rPr>
              <a:t>/</a:t>
            </a:r>
            <a:r>
              <a:rPr lang="en-US" dirty="0" err="1">
                <a:solidFill>
                  <a:srgbClr val="002060"/>
                </a:solidFill>
                <a:latin typeface="Courier New" panose="02070309020205020404" pitchFamily="49" charset="0"/>
              </a:rPr>
              <a:t>api</a:t>
            </a:r>
            <a:r>
              <a:rPr lang="en-US" dirty="0">
                <a:solidFill>
                  <a:srgbClr val="002060"/>
                </a:solidFill>
                <a:latin typeface="Courier New" panose="02070309020205020404" pitchFamily="49" charset="0"/>
              </a:rPr>
              <a:t>/employees/register</a:t>
            </a:r>
            <a:r>
              <a:rPr lang="en-US" dirty="0">
                <a:solidFill>
                  <a:srgbClr val="002060"/>
                </a:solidFill>
              </a:rPr>
              <a:t>).</a:t>
            </a:r>
          </a:p>
        </p:txBody>
      </p:sp>
      <p:pic>
        <p:nvPicPr>
          <p:cNvPr id="5" name="Picture 4">
            <a:extLst>
              <a:ext uri="{FF2B5EF4-FFF2-40B4-BE49-F238E27FC236}">
                <a16:creationId xmlns:a16="http://schemas.microsoft.com/office/drawing/2014/main" id="{8A49D29B-F255-536B-8F87-850002B7A825}"/>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20000"/>
                    </a14:imgEffect>
                  </a14:imgLayer>
                </a14:imgProps>
              </a:ext>
            </a:extLst>
          </a:blip>
          <a:srcRect r="46684" b="21360"/>
          <a:stretch>
            <a:fillRect/>
          </a:stretch>
        </p:blipFill>
        <p:spPr>
          <a:xfrm>
            <a:off x="180974" y="2786968"/>
            <a:ext cx="4732302" cy="3309032"/>
          </a:xfrm>
          <a:prstGeom prst="rect">
            <a:avLst/>
          </a:prstGeom>
        </p:spPr>
      </p:pic>
      <p:sp>
        <p:nvSpPr>
          <p:cNvPr id="6" name="Oval 5">
            <a:extLst>
              <a:ext uri="{FF2B5EF4-FFF2-40B4-BE49-F238E27FC236}">
                <a16:creationId xmlns:a16="http://schemas.microsoft.com/office/drawing/2014/main" id="{48B8A7A3-EA02-D474-2C58-D3D428A17711}"/>
              </a:ext>
            </a:extLst>
          </p:cNvPr>
          <p:cNvSpPr/>
          <p:nvPr/>
        </p:nvSpPr>
        <p:spPr>
          <a:xfrm>
            <a:off x="1352550" y="5495925"/>
            <a:ext cx="352425"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7" name="Arrow: Right 6">
            <a:extLst>
              <a:ext uri="{FF2B5EF4-FFF2-40B4-BE49-F238E27FC236}">
                <a16:creationId xmlns:a16="http://schemas.microsoft.com/office/drawing/2014/main" id="{52EF5816-368B-1B10-557E-77324AAEB870}"/>
              </a:ext>
            </a:extLst>
          </p:cNvPr>
          <p:cNvSpPr/>
          <p:nvPr/>
        </p:nvSpPr>
        <p:spPr>
          <a:xfrm>
            <a:off x="5000625" y="4210050"/>
            <a:ext cx="533400" cy="24765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40BD953D-3B07-F9BA-FF28-1993CE34DA6A}"/>
              </a:ext>
            </a:extLst>
          </p:cNvPr>
          <p:cNvPicPr>
            <a:picLocks noChangeAspect="1"/>
          </p:cNvPicPr>
          <p:nvPr/>
        </p:nvPicPr>
        <p:blipFill>
          <a:blip r:embed="rId5"/>
          <a:srcRect l="16225" t="5235" r="5269"/>
          <a:stretch>
            <a:fillRect/>
          </a:stretch>
        </p:blipFill>
        <p:spPr>
          <a:xfrm>
            <a:off x="5621374" y="2733674"/>
            <a:ext cx="4324350" cy="3448052"/>
          </a:xfrm>
          <a:prstGeom prst="rect">
            <a:avLst/>
          </a:prstGeom>
        </p:spPr>
      </p:pic>
      <p:sp>
        <p:nvSpPr>
          <p:cNvPr id="10" name="Oval 9">
            <a:extLst>
              <a:ext uri="{FF2B5EF4-FFF2-40B4-BE49-F238E27FC236}">
                <a16:creationId xmlns:a16="http://schemas.microsoft.com/office/drawing/2014/main" id="{E625CCF7-9DCE-5401-7BCB-F90885B7497C}"/>
              </a:ext>
            </a:extLst>
          </p:cNvPr>
          <p:cNvSpPr/>
          <p:nvPr/>
        </p:nvSpPr>
        <p:spPr>
          <a:xfrm>
            <a:off x="8020050" y="5495925"/>
            <a:ext cx="304800" cy="2762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11" name="TextBox 10">
            <a:extLst>
              <a:ext uri="{FF2B5EF4-FFF2-40B4-BE49-F238E27FC236}">
                <a16:creationId xmlns:a16="http://schemas.microsoft.com/office/drawing/2014/main" id="{B8B37350-8DF5-8928-339B-092423D03164}"/>
              </a:ext>
            </a:extLst>
          </p:cNvPr>
          <p:cNvSpPr txBox="1"/>
          <p:nvPr/>
        </p:nvSpPr>
        <p:spPr>
          <a:xfrm>
            <a:off x="6296025" y="6267450"/>
            <a:ext cx="2996333" cy="369332"/>
          </a:xfrm>
          <a:prstGeom prst="rect">
            <a:avLst/>
          </a:prstGeom>
          <a:noFill/>
        </p:spPr>
        <p:txBody>
          <a:bodyPr wrap="none" rtlCol="0">
            <a:spAutoFit/>
          </a:bodyPr>
          <a:lstStyle/>
          <a:p>
            <a:r>
              <a:rPr lang="en-US" dirty="0"/>
              <a:t>/employee/register route</a:t>
            </a:r>
            <a:endParaRPr lang="en-IN" dirty="0"/>
          </a:p>
        </p:txBody>
      </p:sp>
      <p:cxnSp>
        <p:nvCxnSpPr>
          <p:cNvPr id="20" name="Connector: Elbow 19">
            <a:extLst>
              <a:ext uri="{FF2B5EF4-FFF2-40B4-BE49-F238E27FC236}">
                <a16:creationId xmlns:a16="http://schemas.microsoft.com/office/drawing/2014/main" id="{69DD2EA7-7F25-6781-5CB5-AA5262119B0A}"/>
              </a:ext>
            </a:extLst>
          </p:cNvPr>
          <p:cNvCxnSpPr/>
          <p:nvPr/>
        </p:nvCxnSpPr>
        <p:spPr>
          <a:xfrm>
            <a:off x="9945724" y="5562600"/>
            <a:ext cx="636551" cy="419100"/>
          </a:xfrm>
          <a:prstGeom prst="bentConnector3">
            <a:avLst/>
          </a:prstGeom>
          <a:ln>
            <a:solidFill>
              <a:schemeClr val="tx1">
                <a:alpha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1E5718B-0236-0601-FADD-BF65593F110E}"/>
              </a:ext>
            </a:extLst>
          </p:cNvPr>
          <p:cNvSpPr txBox="1"/>
          <p:nvPr/>
        </p:nvSpPr>
        <p:spPr>
          <a:xfrm>
            <a:off x="10582275" y="5528786"/>
            <a:ext cx="1609725" cy="923330"/>
          </a:xfrm>
          <a:prstGeom prst="rect">
            <a:avLst/>
          </a:prstGeom>
          <a:noFill/>
        </p:spPr>
        <p:txBody>
          <a:bodyPr wrap="square" rtlCol="0">
            <a:spAutoFit/>
          </a:bodyPr>
          <a:lstStyle/>
          <a:p>
            <a:r>
              <a:rPr lang="en-US" dirty="0"/>
              <a:t>HTTP POST to backend server</a:t>
            </a:r>
            <a:endParaRPr lang="en-IN" dirty="0"/>
          </a:p>
        </p:txBody>
      </p:sp>
      <p:sp>
        <p:nvSpPr>
          <p:cNvPr id="22" name="Oval 21">
            <a:extLst>
              <a:ext uri="{FF2B5EF4-FFF2-40B4-BE49-F238E27FC236}">
                <a16:creationId xmlns:a16="http://schemas.microsoft.com/office/drawing/2014/main" id="{8E4E781A-74EC-7C14-FC7C-0CDF2EC9D17D}"/>
              </a:ext>
            </a:extLst>
          </p:cNvPr>
          <p:cNvSpPr/>
          <p:nvPr/>
        </p:nvSpPr>
        <p:spPr>
          <a:xfrm>
            <a:off x="11191874" y="5128736"/>
            <a:ext cx="390525" cy="4000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endParaRPr lang="en-IN" dirty="0"/>
          </a:p>
        </p:txBody>
      </p:sp>
    </p:spTree>
    <p:extLst>
      <p:ext uri="{BB962C8B-B14F-4D97-AF65-F5344CB8AC3E}">
        <p14:creationId xmlns:p14="http://schemas.microsoft.com/office/powerpoint/2010/main" val="2966407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865548-A8DB-7BFD-6D9B-45386BFDF8DE}"/>
              </a:ext>
            </a:extLst>
          </p:cNvPr>
          <p:cNvSpPr txBox="1"/>
          <p:nvPr/>
        </p:nvSpPr>
        <p:spPr>
          <a:xfrm>
            <a:off x="790574" y="75903"/>
            <a:ext cx="10553701" cy="2646878"/>
          </a:xfrm>
          <a:prstGeom prst="rect">
            <a:avLst/>
          </a:prstGeom>
          <a:noFill/>
        </p:spPr>
        <p:txBody>
          <a:bodyPr wrap="square">
            <a:spAutoFit/>
          </a:bodyPr>
          <a:lstStyle/>
          <a:p>
            <a:pPr algn="ctr">
              <a:buNone/>
            </a:pPr>
            <a:r>
              <a:rPr lang="en-US" sz="2000" b="1" dirty="0">
                <a:solidFill>
                  <a:schemeClr val="accent1">
                    <a:lumMod val="75000"/>
                  </a:schemeClr>
                </a:solidFill>
              </a:rPr>
              <a:t>The Execution Flow: Phase 2 (Backend Controller)</a:t>
            </a:r>
            <a:br>
              <a:rPr lang="en-US" sz="2000" b="1" dirty="0">
                <a:solidFill>
                  <a:schemeClr val="accent1">
                    <a:lumMod val="75000"/>
                  </a:schemeClr>
                </a:solidFill>
              </a:rPr>
            </a:br>
            <a:endParaRPr lang="en-US" sz="2000" b="1" dirty="0">
              <a:solidFill>
                <a:srgbClr val="002060"/>
              </a:solidFill>
            </a:endParaRPr>
          </a:p>
          <a:p>
            <a:pPr>
              <a:buNone/>
            </a:pPr>
            <a:r>
              <a:rPr lang="en-US" dirty="0">
                <a:solidFill>
                  <a:srgbClr val="002060"/>
                </a:solidFill>
                <a:latin typeface="Arial" panose="020B0604020202020204" pitchFamily="34" charset="0"/>
                <a:cs typeface="Arial" panose="020B0604020202020204" pitchFamily="34" charset="0"/>
              </a:rPr>
              <a:t>Now at backend when we are executing the spring boot already the inbuild backend server of Spring boot – </a:t>
            </a:r>
            <a:r>
              <a:rPr lang="en-US" b="1" dirty="0">
                <a:solidFill>
                  <a:srgbClr val="002060"/>
                </a:solidFill>
                <a:latin typeface="Arial" panose="020B0604020202020204" pitchFamily="34" charset="0"/>
                <a:cs typeface="Arial" panose="020B0604020202020204" pitchFamily="34" charset="0"/>
              </a:rPr>
              <a:t>Tomcat </a:t>
            </a:r>
            <a:r>
              <a:rPr lang="en-US" dirty="0">
                <a:solidFill>
                  <a:srgbClr val="002060"/>
                </a:solidFill>
                <a:latin typeface="Arial" panose="020B0604020202020204" pitchFamily="34" charset="0"/>
                <a:cs typeface="Arial" panose="020B0604020202020204" pitchFamily="34" charset="0"/>
              </a:rPr>
              <a:t>get started . Hence the HTTP post request from frontend(react) is handled by the Tomcat Server and is first redirected to the controller(which serves as the entry point for all incoming web requests from your React frontend) .</a:t>
            </a:r>
          </a:p>
          <a:p>
            <a:pPr marL="285750" indent="-285750">
              <a:buFont typeface="Arial" panose="020B0604020202020204" pitchFamily="34" charset="0"/>
              <a:buChar char="•"/>
            </a:pPr>
            <a:r>
              <a:rPr lang="en-US" altLang="en-US" b="1" dirty="0">
                <a:solidFill>
                  <a:srgbClr val="002060"/>
                </a:solidFill>
                <a:latin typeface="Arial" panose="020B0604020202020204" pitchFamily="34" charset="0"/>
              </a:rPr>
              <a:t>Entry Point:</a:t>
            </a:r>
            <a:r>
              <a:rPr lang="en-US" altLang="en-US" dirty="0">
                <a:solidFill>
                  <a:srgbClr val="002060"/>
                </a:solidFill>
                <a:latin typeface="Arial" panose="020B0604020202020204" pitchFamily="34" charset="0"/>
              </a:rPr>
              <a:t> The request hits the </a:t>
            </a:r>
            <a:r>
              <a:rPr lang="en-US" altLang="en-US" b="1" dirty="0" err="1">
                <a:solidFill>
                  <a:srgbClr val="002060"/>
                </a:solidFill>
                <a:latin typeface="Arial" panose="020B0604020202020204" pitchFamily="34" charset="0"/>
              </a:rPr>
              <a:t>AuthController</a:t>
            </a:r>
            <a:r>
              <a:rPr lang="en-US" altLang="en-US" dirty="0">
                <a:solidFill>
                  <a:srgbClr val="002060"/>
                </a:solidFill>
                <a:latin typeface="Arial" panose="020B0604020202020204" pitchFamily="34" charset="0"/>
              </a:rPr>
              <a:t> in the Spring Boot application.</a:t>
            </a:r>
            <a:endParaRPr lang="en-US" dirty="0">
              <a:solidFill>
                <a:srgbClr val="002060"/>
              </a:solidFill>
            </a:endParaRPr>
          </a:p>
          <a:p>
            <a:pPr marL="285750" indent="-285750">
              <a:buFont typeface="Arial" panose="020B0604020202020204" pitchFamily="34" charset="0"/>
              <a:buChar char="•"/>
            </a:pPr>
            <a:r>
              <a:rPr lang="en-US" altLang="en-US" b="1" dirty="0">
                <a:solidFill>
                  <a:srgbClr val="002060"/>
                </a:solidFill>
                <a:latin typeface="Arial" panose="020B0604020202020204" pitchFamily="34" charset="0"/>
              </a:rPr>
              <a:t>Annotation Handling:</a:t>
            </a:r>
            <a:r>
              <a:rPr lang="en-US" altLang="en-US" dirty="0">
                <a:solidFill>
                  <a:srgbClr val="002060"/>
                </a:solidFill>
                <a:latin typeface="Arial" panose="020B0604020202020204" pitchFamily="34" charset="0"/>
              </a:rPr>
              <a:t> The </a:t>
            </a:r>
            <a:r>
              <a:rPr lang="en-US" altLang="en-US" dirty="0">
                <a:solidFill>
                  <a:srgbClr val="002060"/>
                </a:solidFill>
                <a:latin typeface="Arial Unicode MS"/>
              </a:rPr>
              <a:t>@PostMapping</a:t>
            </a:r>
            <a:r>
              <a:rPr lang="en-US" altLang="en-US" dirty="0">
                <a:solidFill>
                  <a:srgbClr val="002060"/>
                </a:solidFill>
              </a:rPr>
              <a:t> annotation identifies the correct method to handle the registration.</a:t>
            </a:r>
            <a:endParaRPr lang="en-US" dirty="0">
              <a:solidFill>
                <a:srgbClr val="002060"/>
              </a:solidFill>
            </a:endParaRPr>
          </a:p>
        </p:txBody>
      </p:sp>
      <p:sp>
        <p:nvSpPr>
          <p:cNvPr id="4" name="Rectangle 1">
            <a:extLst>
              <a:ext uri="{FF2B5EF4-FFF2-40B4-BE49-F238E27FC236}">
                <a16:creationId xmlns:a16="http://schemas.microsoft.com/office/drawing/2014/main" id="{A019AA9A-91CF-3D10-381F-8B226EFE5142}"/>
              </a:ext>
            </a:extLst>
          </p:cNvPr>
          <p:cNvSpPr>
            <a:spLocks noChangeArrowheads="1"/>
          </p:cNvSpPr>
          <p:nvPr/>
        </p:nvSpPr>
        <p:spPr bwMode="auto">
          <a:xfrm>
            <a:off x="780643" y="2560484"/>
            <a:ext cx="103251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defTabSz="914400" eaLnBrk="0" fontAlgn="base" hangingPunct="0">
              <a:spcBef>
                <a:spcPct val="0"/>
              </a:spcBef>
              <a:spcAft>
                <a:spcPct val="0"/>
              </a:spcAft>
              <a:buFont typeface="Arial" panose="020B0604020202020204" pitchFamily="34" charset="0"/>
              <a:buChar char="•"/>
            </a:pPr>
            <a:r>
              <a:rPr lang="en-US" altLang="en-US" b="1" dirty="0">
                <a:solidFill>
                  <a:srgbClr val="002060"/>
                </a:solidFill>
                <a:latin typeface="Arial" panose="020B0604020202020204" pitchFamily="34" charset="0"/>
              </a:rPr>
              <a:t>Request</a:t>
            </a:r>
            <a:r>
              <a:rPr lang="en-US" altLang="en-US" b="1" dirty="0">
                <a:solidFill>
                  <a:srgbClr val="002060"/>
                </a:solidFill>
              </a:rPr>
              <a:t> </a:t>
            </a:r>
            <a:r>
              <a:rPr kumimoji="0" lang="en-US" altLang="en-US" sz="1800" b="1" i="0" u="none" strike="noStrike" cap="none" normalizeH="0" baseline="0" dirty="0">
                <a:ln>
                  <a:noFill/>
                </a:ln>
                <a:solidFill>
                  <a:srgbClr val="002060"/>
                </a:solidFill>
                <a:effectLst/>
                <a:latin typeface="Arial" panose="020B0604020202020204" pitchFamily="34" charset="0"/>
              </a:rPr>
              <a:t>Body Mapping:</a:t>
            </a:r>
            <a:r>
              <a:rPr kumimoji="0" lang="en-US" altLang="en-US" sz="1800" b="0" i="0" u="none" strike="noStrike" cap="none" normalizeH="0" baseline="0" dirty="0">
                <a:ln>
                  <a:noFill/>
                </a:ln>
                <a:solidFill>
                  <a:srgbClr val="002060"/>
                </a:solidFill>
                <a:effectLst/>
                <a:latin typeface="Arial" panose="020B0604020202020204" pitchFamily="34" charset="0"/>
              </a:rPr>
              <a:t> The incoming JSON data is automatically mapped to a </a:t>
            </a:r>
            <a:r>
              <a:rPr kumimoji="0" lang="en-US" altLang="en-US" sz="1800" b="1" i="0" u="none" strike="noStrike" cap="none" normalizeH="0" baseline="0" dirty="0">
                <a:ln>
                  <a:noFill/>
                </a:ln>
                <a:solidFill>
                  <a:srgbClr val="002060"/>
                </a:solidFill>
                <a:effectLst/>
                <a:latin typeface="Arial" panose="020B0604020202020204" pitchFamily="34" charset="0"/>
              </a:rPr>
              <a:t>Data Transfer Object (DTO)</a:t>
            </a:r>
            <a:r>
              <a:rPr kumimoji="0" lang="en-US" altLang="en-US" sz="1800" b="0" i="0" u="none" strike="noStrike" cap="none" normalizeH="0" baseline="0" dirty="0">
                <a:ln>
                  <a:noFill/>
                </a:ln>
                <a:solidFill>
                  <a:srgbClr val="002060"/>
                </a:solidFill>
                <a:effectLst/>
                <a:latin typeface="Arial" panose="020B0604020202020204" pitchFamily="34" charset="0"/>
              </a:rPr>
              <a:t> or Entity class.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rgbClr val="002060"/>
                </a:solidFill>
                <a:effectLst/>
                <a:latin typeface="Arial" panose="020B0604020202020204" pitchFamily="34" charset="0"/>
              </a:rPr>
              <a:t>Initial Validation:</a:t>
            </a:r>
            <a:r>
              <a:rPr kumimoji="0" lang="en-US" altLang="en-US" sz="1800" b="0" i="0" u="none" strike="noStrike" cap="none" normalizeH="0" baseline="0" dirty="0">
                <a:ln>
                  <a:noFill/>
                </a:ln>
                <a:solidFill>
                  <a:srgbClr val="002060"/>
                </a:solidFill>
                <a:effectLst/>
                <a:latin typeface="Arial" panose="020B0604020202020204" pitchFamily="34" charset="0"/>
              </a:rPr>
              <a:t> The controller performs basic checks to ensure the required fields (name, email, etc.) are present.</a:t>
            </a:r>
          </a:p>
        </p:txBody>
      </p:sp>
      <p:pic>
        <p:nvPicPr>
          <p:cNvPr id="5" name="Picture 4">
            <a:extLst>
              <a:ext uri="{FF2B5EF4-FFF2-40B4-BE49-F238E27FC236}">
                <a16:creationId xmlns:a16="http://schemas.microsoft.com/office/drawing/2014/main" id="{C5616616-B29D-FFE1-7FD4-84CFAC3B636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rcRect b="30275"/>
          <a:stretch>
            <a:fillRect/>
          </a:stretch>
        </p:blipFill>
        <p:spPr>
          <a:xfrm>
            <a:off x="101769" y="3788150"/>
            <a:ext cx="5473083" cy="2586435"/>
          </a:xfrm>
          <a:prstGeom prst="rect">
            <a:avLst/>
          </a:prstGeom>
        </p:spPr>
      </p:pic>
      <p:sp>
        <p:nvSpPr>
          <p:cNvPr id="6" name="Oval 5">
            <a:extLst>
              <a:ext uri="{FF2B5EF4-FFF2-40B4-BE49-F238E27FC236}">
                <a16:creationId xmlns:a16="http://schemas.microsoft.com/office/drawing/2014/main" id="{57CD1B5B-2B16-E3EF-24A9-5D38C2A11FF0}"/>
              </a:ext>
            </a:extLst>
          </p:cNvPr>
          <p:cNvSpPr/>
          <p:nvPr/>
        </p:nvSpPr>
        <p:spPr>
          <a:xfrm>
            <a:off x="4162425" y="4923475"/>
            <a:ext cx="485775" cy="4391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1"/>
                </a:solidFill>
                <a:effectLst>
                  <a:outerShdw blurRad="38100" dist="25400" dir="5400000" algn="ctr" rotWithShape="0">
                    <a:srgbClr val="6E747A">
                      <a:alpha val="43000"/>
                    </a:srgbClr>
                  </a:outerShdw>
                </a:effectLst>
              </a:rPr>
              <a:t>4</a:t>
            </a:r>
            <a:endParaRPr lang="en-IN" dirty="0">
              <a:solidFill>
                <a:schemeClr val="bg1">
                  <a:lumMod val="95000"/>
                  <a:lumOff val="5000"/>
                </a:schemeClr>
              </a:solidFill>
            </a:endParaRPr>
          </a:p>
        </p:txBody>
      </p:sp>
      <p:sp>
        <p:nvSpPr>
          <p:cNvPr id="7" name="Rectangle 6">
            <a:extLst>
              <a:ext uri="{FF2B5EF4-FFF2-40B4-BE49-F238E27FC236}">
                <a16:creationId xmlns:a16="http://schemas.microsoft.com/office/drawing/2014/main" id="{FE90DCAE-8943-46B1-58AF-A2A55485C6C2}"/>
              </a:ext>
            </a:extLst>
          </p:cNvPr>
          <p:cNvSpPr/>
          <p:nvPr/>
        </p:nvSpPr>
        <p:spPr>
          <a:xfrm>
            <a:off x="180974" y="4338880"/>
            <a:ext cx="2914651" cy="2000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047A4704-7530-F8C6-CCCB-BAFC95AE4284}"/>
              </a:ext>
            </a:extLst>
          </p:cNvPr>
          <p:cNvSpPr/>
          <p:nvPr/>
        </p:nvSpPr>
        <p:spPr>
          <a:xfrm>
            <a:off x="314324" y="6010275"/>
            <a:ext cx="1714500" cy="2000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Right 8">
            <a:extLst>
              <a:ext uri="{FF2B5EF4-FFF2-40B4-BE49-F238E27FC236}">
                <a16:creationId xmlns:a16="http://schemas.microsoft.com/office/drawing/2014/main" id="{8E898CE3-CBEC-CB29-7AF8-95E7BADA9E95}"/>
              </a:ext>
            </a:extLst>
          </p:cNvPr>
          <p:cNvSpPr/>
          <p:nvPr/>
        </p:nvSpPr>
        <p:spPr>
          <a:xfrm>
            <a:off x="5695278" y="5042792"/>
            <a:ext cx="647700" cy="439100"/>
          </a:xfrm>
          <a:prstGeom prst="rightArrow">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26A89CDF-543B-13E0-9A18-98691C6CFE5A}"/>
              </a:ext>
            </a:extLst>
          </p:cNvPr>
          <p:cNvPicPr>
            <a:picLocks noChangeAspect="1"/>
          </p:cNvPicPr>
          <p:nvPr/>
        </p:nvPicPr>
        <p:blipFill>
          <a:blip r:embed="rId4"/>
          <a:stretch>
            <a:fillRect/>
          </a:stretch>
        </p:blipFill>
        <p:spPr>
          <a:xfrm>
            <a:off x="6457951" y="4047851"/>
            <a:ext cx="5305424" cy="1962424"/>
          </a:xfrm>
          <a:prstGeom prst="rect">
            <a:avLst/>
          </a:prstGeom>
        </p:spPr>
      </p:pic>
      <p:sp>
        <p:nvSpPr>
          <p:cNvPr id="14" name="Oval 13">
            <a:extLst>
              <a:ext uri="{FF2B5EF4-FFF2-40B4-BE49-F238E27FC236}">
                <a16:creationId xmlns:a16="http://schemas.microsoft.com/office/drawing/2014/main" id="{B0B5E2D7-4530-C627-B6F7-DD886EAC4945}"/>
              </a:ext>
            </a:extLst>
          </p:cNvPr>
          <p:cNvSpPr/>
          <p:nvPr/>
        </p:nvSpPr>
        <p:spPr>
          <a:xfrm>
            <a:off x="9906000" y="4438893"/>
            <a:ext cx="323850" cy="308205"/>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1"/>
                </a:solidFill>
                <a:effectLst>
                  <a:outerShdw blurRad="38100" dist="25400" dir="5400000" algn="ctr" rotWithShape="0">
                    <a:srgbClr val="6E747A">
                      <a:alpha val="43000"/>
                    </a:srgbClr>
                  </a:outerShdw>
                </a:effectLst>
              </a:rPr>
              <a:t>5</a:t>
            </a:r>
            <a:endParaRPr lang="en-IN" dirty="0">
              <a:ln w="0"/>
              <a:solidFill>
                <a:schemeClr val="accent1"/>
              </a:solidFill>
              <a:effectLst>
                <a:outerShdw blurRad="38100" dist="25400" dir="5400000" algn="ctr" rotWithShape="0">
                  <a:srgbClr val="6E747A">
                    <a:alpha val="43000"/>
                  </a:srgbClr>
                </a:outerShdw>
              </a:effectLst>
            </a:endParaRPr>
          </a:p>
        </p:txBody>
      </p:sp>
      <p:sp>
        <p:nvSpPr>
          <p:cNvPr id="15" name="Oval 14">
            <a:extLst>
              <a:ext uri="{FF2B5EF4-FFF2-40B4-BE49-F238E27FC236}">
                <a16:creationId xmlns:a16="http://schemas.microsoft.com/office/drawing/2014/main" id="{B15DEA20-9B41-BA88-25ED-982DAD9EA070}"/>
              </a:ext>
            </a:extLst>
          </p:cNvPr>
          <p:cNvSpPr/>
          <p:nvPr/>
        </p:nvSpPr>
        <p:spPr>
          <a:xfrm>
            <a:off x="8953500" y="5576614"/>
            <a:ext cx="314325" cy="2857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1"/>
                </a:solidFill>
                <a:effectLst>
                  <a:outerShdw blurRad="38100" dist="25400" dir="5400000" algn="ctr" rotWithShape="0">
                    <a:srgbClr val="6E747A">
                      <a:alpha val="43000"/>
                    </a:srgbClr>
                  </a:outerShdw>
                </a:effectLst>
              </a:rPr>
              <a:t>6</a:t>
            </a:r>
            <a:endParaRPr lang="en-IN" dirty="0">
              <a:ln w="0"/>
              <a:solidFill>
                <a:schemeClr val="accent1"/>
              </a:solidFill>
              <a:effectLst>
                <a:outerShdw blurRad="38100" dist="25400" dir="5400000" algn="ctr" rotWithShape="0">
                  <a:srgbClr val="6E747A">
                    <a:alpha val="43000"/>
                  </a:srgbClr>
                </a:outerShdw>
              </a:effectLst>
            </a:endParaRPr>
          </a:p>
        </p:txBody>
      </p:sp>
      <p:cxnSp>
        <p:nvCxnSpPr>
          <p:cNvPr id="17" name="Connector: Elbow 16">
            <a:extLst>
              <a:ext uri="{FF2B5EF4-FFF2-40B4-BE49-F238E27FC236}">
                <a16:creationId xmlns:a16="http://schemas.microsoft.com/office/drawing/2014/main" id="{65CA23FC-0647-5A86-CB4F-B3DF319BF27B}"/>
              </a:ext>
            </a:extLst>
          </p:cNvPr>
          <p:cNvCxnSpPr>
            <a:cxnSpLocks/>
          </p:cNvCxnSpPr>
          <p:nvPr/>
        </p:nvCxnSpPr>
        <p:spPr>
          <a:xfrm>
            <a:off x="11475178" y="5362575"/>
            <a:ext cx="670818" cy="557213"/>
          </a:xfrm>
          <a:prstGeom prst="bentConnector3">
            <a:avLst>
              <a:gd name="adj1" fmla="val 50000"/>
            </a:avLst>
          </a:prstGeom>
          <a:ln>
            <a:solidFill>
              <a:schemeClr val="accent1">
                <a:alpha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BA89E368-6C7C-F3B2-3C62-1EB98CA69A4E}"/>
              </a:ext>
            </a:extLst>
          </p:cNvPr>
          <p:cNvSpPr/>
          <p:nvPr/>
        </p:nvSpPr>
        <p:spPr>
          <a:xfrm>
            <a:off x="4181475" y="6153150"/>
            <a:ext cx="485775" cy="2000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6D4768AD-D9FD-52C7-F9EF-A7EE41C6F4CC}"/>
              </a:ext>
            </a:extLst>
          </p:cNvPr>
          <p:cNvSpPr txBox="1"/>
          <p:nvPr/>
        </p:nvSpPr>
        <p:spPr>
          <a:xfrm>
            <a:off x="1004989" y="6429375"/>
            <a:ext cx="2845651" cy="369332"/>
          </a:xfrm>
          <a:prstGeom prst="rect">
            <a:avLst/>
          </a:prstGeom>
          <a:noFill/>
        </p:spPr>
        <p:txBody>
          <a:bodyPr wrap="none" rtlCol="0">
            <a:spAutoFit/>
          </a:bodyPr>
          <a:lstStyle/>
          <a:p>
            <a:r>
              <a:rPr lang="en-US" dirty="0"/>
              <a:t>Here request is the DTO </a:t>
            </a:r>
            <a:endParaRPr lang="en-IN" dirty="0"/>
          </a:p>
        </p:txBody>
      </p:sp>
      <p:sp>
        <p:nvSpPr>
          <p:cNvPr id="22" name="TextBox 21">
            <a:extLst>
              <a:ext uri="{FF2B5EF4-FFF2-40B4-BE49-F238E27FC236}">
                <a16:creationId xmlns:a16="http://schemas.microsoft.com/office/drawing/2014/main" id="{EB237488-DE53-6ECD-E9C0-737C6814E6D0}"/>
              </a:ext>
            </a:extLst>
          </p:cNvPr>
          <p:cNvSpPr txBox="1"/>
          <p:nvPr/>
        </p:nvSpPr>
        <p:spPr>
          <a:xfrm>
            <a:off x="6677025" y="6155882"/>
            <a:ext cx="5514975" cy="646331"/>
          </a:xfrm>
          <a:prstGeom prst="rect">
            <a:avLst/>
          </a:prstGeom>
          <a:noFill/>
        </p:spPr>
        <p:txBody>
          <a:bodyPr wrap="square" rtlCol="0">
            <a:spAutoFit/>
          </a:bodyPr>
          <a:lstStyle/>
          <a:p>
            <a:r>
              <a:rPr lang="en-US" dirty="0"/>
              <a:t>And Employee is the entity which is mapped to the database in service layer</a:t>
            </a:r>
            <a:endParaRPr lang="en-IN" dirty="0"/>
          </a:p>
        </p:txBody>
      </p:sp>
    </p:spTree>
    <p:extLst>
      <p:ext uri="{BB962C8B-B14F-4D97-AF65-F5344CB8AC3E}">
        <p14:creationId xmlns:p14="http://schemas.microsoft.com/office/powerpoint/2010/main" val="1529512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DD517F-9C05-6CFA-9B8D-BC7AB37480CA}"/>
              </a:ext>
            </a:extLst>
          </p:cNvPr>
          <p:cNvSpPr txBox="1"/>
          <p:nvPr/>
        </p:nvSpPr>
        <p:spPr>
          <a:xfrm>
            <a:off x="762000" y="92839"/>
            <a:ext cx="10458450" cy="2062103"/>
          </a:xfrm>
          <a:prstGeom prst="rect">
            <a:avLst/>
          </a:prstGeom>
          <a:noFill/>
        </p:spPr>
        <p:txBody>
          <a:bodyPr wrap="square">
            <a:spAutoFit/>
          </a:bodyPr>
          <a:lstStyle/>
          <a:p>
            <a:pPr algn="ctr">
              <a:buNone/>
            </a:pPr>
            <a:r>
              <a:rPr lang="en-US" sz="2000" b="1" dirty="0">
                <a:solidFill>
                  <a:schemeClr val="accent1"/>
                </a:solidFill>
              </a:rPr>
              <a:t>The Execution Flow: Phase 3 (Business Logic Layer)</a:t>
            </a:r>
          </a:p>
          <a:p>
            <a:pPr algn="ctr">
              <a:buNone/>
            </a:pPr>
            <a:endParaRPr lang="en-US" b="1" dirty="0">
              <a:solidFill>
                <a:schemeClr val="accent1"/>
              </a:solidFill>
            </a:endParaRPr>
          </a:p>
          <a:p>
            <a:pPr>
              <a:buFont typeface="Arial" panose="020B0604020202020204" pitchFamily="34" charset="0"/>
              <a:buChar char="•"/>
            </a:pPr>
            <a:r>
              <a:rPr lang="en-US" b="1" dirty="0">
                <a:solidFill>
                  <a:srgbClr val="002060"/>
                </a:solidFill>
              </a:rPr>
              <a:t>Service Invocation:</a:t>
            </a:r>
            <a:r>
              <a:rPr lang="en-US" dirty="0">
                <a:solidFill>
                  <a:srgbClr val="002060"/>
                </a:solidFill>
              </a:rPr>
              <a:t> The Controller calls the </a:t>
            </a:r>
            <a:r>
              <a:rPr lang="en-US" b="1" dirty="0" err="1">
                <a:solidFill>
                  <a:srgbClr val="002060"/>
                </a:solidFill>
              </a:rPr>
              <a:t>EmployeeService</a:t>
            </a:r>
            <a:r>
              <a:rPr lang="en-US" dirty="0">
                <a:solidFill>
                  <a:srgbClr val="002060"/>
                </a:solidFill>
              </a:rPr>
              <a:t> to process the request.</a:t>
            </a:r>
          </a:p>
          <a:p>
            <a:pPr>
              <a:buFont typeface="Arial" panose="020B0604020202020204" pitchFamily="34" charset="0"/>
              <a:buChar char="•"/>
            </a:pPr>
            <a:r>
              <a:rPr lang="en-US" b="1" dirty="0">
                <a:solidFill>
                  <a:srgbClr val="002060"/>
                </a:solidFill>
              </a:rPr>
              <a:t>Logic Application:</a:t>
            </a:r>
            <a:r>
              <a:rPr lang="en-US" dirty="0">
                <a:solidFill>
                  <a:srgbClr val="002060"/>
                </a:solidFill>
              </a:rPr>
              <a:t> The service checks if the email is already registered to prevent duplicate entries.</a:t>
            </a:r>
          </a:p>
          <a:p>
            <a:pPr>
              <a:buFont typeface="Arial" panose="020B0604020202020204" pitchFamily="34" charset="0"/>
              <a:buChar char="•"/>
            </a:pPr>
            <a:r>
              <a:rPr lang="en-US" b="1" dirty="0">
                <a:solidFill>
                  <a:srgbClr val="002060"/>
                </a:solidFill>
              </a:rPr>
              <a:t>Entity Mapping:</a:t>
            </a:r>
            <a:r>
              <a:rPr lang="en-US" dirty="0">
                <a:solidFill>
                  <a:srgbClr val="002060"/>
                </a:solidFill>
              </a:rPr>
              <a:t> The DTO is converted into a JPA Entity ready for database insertion.</a:t>
            </a:r>
          </a:p>
          <a:p>
            <a:pPr>
              <a:buFont typeface="Arial" panose="020B0604020202020204" pitchFamily="34" charset="0"/>
              <a:buChar char="•"/>
            </a:pPr>
            <a:endParaRPr lang="en-US" dirty="0">
              <a:solidFill>
                <a:srgbClr val="002060"/>
              </a:solidFill>
            </a:endParaRPr>
          </a:p>
        </p:txBody>
      </p:sp>
      <p:pic>
        <p:nvPicPr>
          <p:cNvPr id="5" name="Picture 4">
            <a:extLst>
              <a:ext uri="{FF2B5EF4-FFF2-40B4-BE49-F238E27FC236}">
                <a16:creationId xmlns:a16="http://schemas.microsoft.com/office/drawing/2014/main" id="{60962366-56A7-C83B-25E1-BF8FC2C77E94}"/>
              </a:ext>
            </a:extLst>
          </p:cNvPr>
          <p:cNvPicPr>
            <a:picLocks noChangeAspect="1"/>
          </p:cNvPicPr>
          <p:nvPr/>
        </p:nvPicPr>
        <p:blipFill>
          <a:blip r:embed="rId2"/>
          <a:stretch>
            <a:fillRect/>
          </a:stretch>
        </p:blipFill>
        <p:spPr>
          <a:xfrm>
            <a:off x="1562862" y="3302058"/>
            <a:ext cx="4659547" cy="1897893"/>
          </a:xfrm>
          <a:prstGeom prst="rect">
            <a:avLst/>
          </a:prstGeom>
        </p:spPr>
      </p:pic>
      <p:sp>
        <p:nvSpPr>
          <p:cNvPr id="6" name="Rectangle 1">
            <a:extLst>
              <a:ext uri="{FF2B5EF4-FFF2-40B4-BE49-F238E27FC236}">
                <a16:creationId xmlns:a16="http://schemas.microsoft.com/office/drawing/2014/main" id="{86C839E3-72CD-D213-365F-9FDA87CFC07B}"/>
              </a:ext>
            </a:extLst>
          </p:cNvPr>
          <p:cNvSpPr>
            <a:spLocks noChangeArrowheads="1"/>
          </p:cNvSpPr>
          <p:nvPr/>
        </p:nvSpPr>
        <p:spPr bwMode="auto">
          <a:xfrm>
            <a:off x="778216" y="1758156"/>
            <a:ext cx="10749061"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02060"/>
                </a:solidFill>
                <a:effectLst/>
                <a:latin typeface="Arial" panose="020B0604020202020204" pitchFamily="34" charset="0"/>
              </a:rPr>
              <a:t>Repository Call:</a:t>
            </a:r>
            <a:r>
              <a:rPr kumimoji="0" lang="en-US" altLang="en-US" b="0" i="0" u="none" strike="noStrike" cap="none" normalizeH="0" baseline="0" dirty="0">
                <a:ln>
                  <a:noFill/>
                </a:ln>
                <a:solidFill>
                  <a:srgbClr val="002060"/>
                </a:solidFill>
                <a:effectLst/>
                <a:latin typeface="Arial" panose="020B0604020202020204" pitchFamily="34" charset="0"/>
              </a:rPr>
              <a:t> The Service invokes the </a:t>
            </a:r>
            <a:r>
              <a:rPr kumimoji="0" lang="en-US" altLang="en-US" b="1" i="0" u="none" strike="noStrike" cap="none" normalizeH="0" baseline="0" dirty="0" err="1">
                <a:ln>
                  <a:noFill/>
                </a:ln>
                <a:solidFill>
                  <a:srgbClr val="002060"/>
                </a:solidFill>
                <a:effectLst/>
                <a:latin typeface="Arial" panose="020B0604020202020204" pitchFamily="34" charset="0"/>
              </a:rPr>
              <a:t>EmployeeRepository</a:t>
            </a:r>
            <a:r>
              <a:rPr kumimoji="0" lang="en-US" altLang="en-US" b="0" i="0" u="none" strike="noStrike" cap="none" normalizeH="0" baseline="0" dirty="0">
                <a:ln>
                  <a:noFill/>
                </a:ln>
                <a:solidFill>
                  <a:srgbClr val="002060"/>
                </a:solidFill>
                <a:effectLst/>
                <a:latin typeface="Arial" panose="020B0604020202020204" pitchFamily="34" charset="0"/>
              </a:rPr>
              <a:t>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02060"/>
                </a:solidFill>
                <a:effectLst/>
                <a:latin typeface="Arial" panose="020B0604020202020204" pitchFamily="34" charset="0"/>
              </a:rPr>
              <a:t>Spring Data JPA:</a:t>
            </a:r>
            <a:r>
              <a:rPr kumimoji="0" lang="en-US" altLang="en-US" b="0" i="0" u="none" strike="noStrike" cap="none" normalizeH="0" baseline="0" dirty="0">
                <a:ln>
                  <a:noFill/>
                </a:ln>
                <a:solidFill>
                  <a:srgbClr val="002060"/>
                </a:solidFill>
                <a:effectLst/>
                <a:latin typeface="Arial" panose="020B0604020202020204" pitchFamily="34" charset="0"/>
              </a:rPr>
              <a:t> The repository uses the </a:t>
            </a:r>
            <a:r>
              <a:rPr kumimoji="0" lang="en-US" altLang="en-US" b="0" i="0" u="none" strike="noStrike" cap="none" normalizeH="0" baseline="0" dirty="0">
                <a:ln>
                  <a:noFill/>
                </a:ln>
                <a:solidFill>
                  <a:srgbClr val="002060"/>
                </a:solidFill>
                <a:effectLst/>
                <a:latin typeface="Arial Unicode MS"/>
              </a:rPr>
              <a:t>.save()</a:t>
            </a:r>
            <a:r>
              <a:rPr kumimoji="0" lang="en-US" altLang="en-US" b="0" i="0" u="none" strike="noStrike" cap="none" normalizeH="0" baseline="0" dirty="0">
                <a:ln>
                  <a:noFill/>
                </a:ln>
                <a:solidFill>
                  <a:srgbClr val="002060"/>
                </a:solidFill>
                <a:effectLst/>
              </a:rPr>
              <a:t> method to interact with the underlying SQL database and finally the employee is saved in the superbase database.</a:t>
            </a:r>
          </a:p>
          <a:p>
            <a:pPr defTabSz="914400" eaLnBrk="0" fontAlgn="base" hangingPunct="0">
              <a:spcBef>
                <a:spcPct val="0"/>
              </a:spcBef>
              <a:spcAft>
                <a:spcPct val="0"/>
              </a:spcAft>
              <a:buFontTx/>
              <a:buChar char="•"/>
            </a:pPr>
            <a:r>
              <a:rPr lang="en-US" altLang="en-US" b="1" dirty="0">
                <a:solidFill>
                  <a:srgbClr val="002060"/>
                </a:solidFill>
                <a:latin typeface="Arial" panose="020B0604020202020204" pitchFamily="34" charset="0"/>
              </a:rPr>
              <a:t>Transaction Management:</a:t>
            </a:r>
            <a:r>
              <a:rPr lang="en-US" altLang="en-US" dirty="0">
                <a:solidFill>
                  <a:srgbClr val="002060"/>
                </a:solidFill>
                <a:latin typeface="Arial" panose="020B0604020202020204" pitchFamily="34" charset="0"/>
              </a:rPr>
              <a:t> Spring manages the database transaction, ensuring the data is successfully committed or rolled back if an error occurs.</a:t>
            </a:r>
          </a:p>
          <a:p>
            <a:pPr marL="0" marR="0" lvl="0" indent="0" algn="l" defTabSz="914400" rtl="0" eaLnBrk="0" fontAlgn="base" latinLnBrk="0" hangingPunct="0">
              <a:lnSpc>
                <a:spcPct val="100000"/>
              </a:lnSpc>
              <a:spcBef>
                <a:spcPct val="0"/>
              </a:spcBef>
              <a:spcAft>
                <a:spcPct val="0"/>
              </a:spcAft>
              <a:buClrTx/>
              <a:buSzTx/>
              <a:tabLst/>
            </a:pPr>
            <a:r>
              <a:rPr kumimoji="0" lang="en-US" altLang="en-US" sz="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69701D1A-EB63-CCC4-9411-AA2ECC274411}"/>
              </a:ext>
            </a:extLst>
          </p:cNvPr>
          <p:cNvPicPr>
            <a:picLocks noChangeAspect="1"/>
          </p:cNvPicPr>
          <p:nvPr/>
        </p:nvPicPr>
        <p:blipFill>
          <a:blip r:embed="rId3"/>
          <a:stretch>
            <a:fillRect/>
          </a:stretch>
        </p:blipFill>
        <p:spPr>
          <a:xfrm>
            <a:off x="152348" y="5257562"/>
            <a:ext cx="9642998" cy="1600438"/>
          </a:xfrm>
          <a:prstGeom prst="rect">
            <a:avLst/>
          </a:prstGeom>
        </p:spPr>
      </p:pic>
      <p:sp>
        <p:nvSpPr>
          <p:cNvPr id="9" name="Oval 8">
            <a:extLst>
              <a:ext uri="{FF2B5EF4-FFF2-40B4-BE49-F238E27FC236}">
                <a16:creationId xmlns:a16="http://schemas.microsoft.com/office/drawing/2014/main" id="{12CC3024-480C-CA62-CBF6-9646DF6AE349}"/>
              </a:ext>
            </a:extLst>
          </p:cNvPr>
          <p:cNvSpPr/>
          <p:nvPr/>
        </p:nvSpPr>
        <p:spPr>
          <a:xfrm>
            <a:off x="762000" y="3589507"/>
            <a:ext cx="531779" cy="4336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a:t>
            </a:r>
            <a:endParaRPr lang="en-IN" dirty="0"/>
          </a:p>
        </p:txBody>
      </p:sp>
      <p:sp>
        <p:nvSpPr>
          <p:cNvPr id="10" name="Oval 9">
            <a:extLst>
              <a:ext uri="{FF2B5EF4-FFF2-40B4-BE49-F238E27FC236}">
                <a16:creationId xmlns:a16="http://schemas.microsoft.com/office/drawing/2014/main" id="{48FE72AD-1036-A339-AE9D-22D0D1353959}"/>
              </a:ext>
            </a:extLst>
          </p:cNvPr>
          <p:cNvSpPr/>
          <p:nvPr/>
        </p:nvSpPr>
        <p:spPr>
          <a:xfrm>
            <a:off x="10579992" y="5058380"/>
            <a:ext cx="369651" cy="35992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a:t>
            </a:r>
            <a:endParaRPr lang="en-IN" dirty="0"/>
          </a:p>
        </p:txBody>
      </p:sp>
      <p:sp>
        <p:nvSpPr>
          <p:cNvPr id="11" name="TextBox 10">
            <a:extLst>
              <a:ext uri="{FF2B5EF4-FFF2-40B4-BE49-F238E27FC236}">
                <a16:creationId xmlns:a16="http://schemas.microsoft.com/office/drawing/2014/main" id="{4D2C2E0D-95FC-BC24-69B2-5C9BDEC4161A}"/>
              </a:ext>
            </a:extLst>
          </p:cNvPr>
          <p:cNvSpPr txBox="1"/>
          <p:nvPr/>
        </p:nvSpPr>
        <p:spPr>
          <a:xfrm>
            <a:off x="6575898" y="3706238"/>
            <a:ext cx="2723823" cy="369332"/>
          </a:xfrm>
          <a:prstGeom prst="rect">
            <a:avLst/>
          </a:prstGeom>
          <a:noFill/>
        </p:spPr>
        <p:txBody>
          <a:bodyPr wrap="none" rtlCol="0">
            <a:spAutoFit/>
          </a:bodyPr>
          <a:lstStyle/>
          <a:p>
            <a:r>
              <a:rPr lang="en-US" dirty="0" err="1"/>
              <a:t>EmployeeService</a:t>
            </a:r>
            <a:r>
              <a:rPr lang="en-US" dirty="0"/>
              <a:t> layer</a:t>
            </a:r>
            <a:endParaRPr lang="en-IN" dirty="0"/>
          </a:p>
        </p:txBody>
      </p:sp>
      <p:sp>
        <p:nvSpPr>
          <p:cNvPr id="12" name="TextBox 11">
            <a:extLst>
              <a:ext uri="{FF2B5EF4-FFF2-40B4-BE49-F238E27FC236}">
                <a16:creationId xmlns:a16="http://schemas.microsoft.com/office/drawing/2014/main" id="{6213854A-2A62-9D1F-2CA0-7B679EF0BB89}"/>
              </a:ext>
            </a:extLst>
          </p:cNvPr>
          <p:cNvSpPr txBox="1"/>
          <p:nvPr/>
        </p:nvSpPr>
        <p:spPr>
          <a:xfrm>
            <a:off x="9931940" y="5418303"/>
            <a:ext cx="2052538" cy="1477328"/>
          </a:xfrm>
          <a:prstGeom prst="rect">
            <a:avLst/>
          </a:prstGeom>
          <a:noFill/>
        </p:spPr>
        <p:txBody>
          <a:bodyPr wrap="square" rtlCol="0">
            <a:spAutoFit/>
          </a:bodyPr>
          <a:lstStyle/>
          <a:p>
            <a:r>
              <a:rPr lang="en-US" dirty="0"/>
              <a:t>A snapshot of how employees are now stored after registration in database</a:t>
            </a:r>
            <a:endParaRPr lang="en-IN" dirty="0"/>
          </a:p>
        </p:txBody>
      </p:sp>
    </p:spTree>
    <p:extLst>
      <p:ext uri="{BB962C8B-B14F-4D97-AF65-F5344CB8AC3E}">
        <p14:creationId xmlns:p14="http://schemas.microsoft.com/office/powerpoint/2010/main" val="624211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729C86-61E5-6998-DE47-0788AAAD232F}"/>
              </a:ext>
            </a:extLst>
          </p:cNvPr>
          <p:cNvPicPr>
            <a:picLocks noChangeAspect="1"/>
          </p:cNvPicPr>
          <p:nvPr/>
        </p:nvPicPr>
        <p:blipFill>
          <a:blip r:embed="rId2"/>
          <a:srcRect t="75385"/>
          <a:stretch>
            <a:fillRect/>
          </a:stretch>
        </p:blipFill>
        <p:spPr>
          <a:xfrm>
            <a:off x="380999" y="2773324"/>
            <a:ext cx="9879975" cy="1458187"/>
          </a:xfrm>
          <a:prstGeom prst="rect">
            <a:avLst/>
          </a:prstGeom>
        </p:spPr>
      </p:pic>
      <p:sp>
        <p:nvSpPr>
          <p:cNvPr id="5" name="TextBox 4">
            <a:extLst>
              <a:ext uri="{FF2B5EF4-FFF2-40B4-BE49-F238E27FC236}">
                <a16:creationId xmlns:a16="http://schemas.microsoft.com/office/drawing/2014/main" id="{ACE12CB2-EEB2-E393-139D-1AE1B483BF85}"/>
              </a:ext>
            </a:extLst>
          </p:cNvPr>
          <p:cNvSpPr txBox="1"/>
          <p:nvPr/>
        </p:nvSpPr>
        <p:spPr>
          <a:xfrm>
            <a:off x="971550" y="130939"/>
            <a:ext cx="11061064" cy="2339102"/>
          </a:xfrm>
          <a:prstGeom prst="rect">
            <a:avLst/>
          </a:prstGeom>
          <a:noFill/>
        </p:spPr>
        <p:txBody>
          <a:bodyPr wrap="square">
            <a:spAutoFit/>
          </a:bodyPr>
          <a:lstStyle/>
          <a:p>
            <a:pPr algn="ctr">
              <a:buNone/>
            </a:pPr>
            <a:r>
              <a:rPr lang="en-US" sz="2000" b="1" dirty="0">
                <a:solidFill>
                  <a:schemeClr val="accent1"/>
                </a:solidFill>
              </a:rPr>
              <a:t>The Execution Flow: Phase 5 (Response &amp; Navigation)</a:t>
            </a:r>
          </a:p>
          <a:p>
            <a:pPr algn="ctr">
              <a:buNone/>
            </a:pPr>
            <a:endParaRPr lang="en-US" b="1" dirty="0">
              <a:solidFill>
                <a:srgbClr val="002060"/>
              </a:solidFill>
            </a:endParaRPr>
          </a:p>
          <a:p>
            <a:pPr>
              <a:buFont typeface="Arial" panose="020B0604020202020204" pitchFamily="34" charset="0"/>
              <a:buChar char="•"/>
            </a:pPr>
            <a:r>
              <a:rPr lang="en-US" b="1" dirty="0">
                <a:solidFill>
                  <a:srgbClr val="002060"/>
                </a:solidFill>
              </a:rPr>
              <a:t>HTTP Response:</a:t>
            </a:r>
            <a:r>
              <a:rPr lang="en-US" dirty="0">
                <a:solidFill>
                  <a:srgbClr val="002060"/>
                </a:solidFill>
              </a:rPr>
              <a:t> The backend returns an </a:t>
            </a:r>
            <a:r>
              <a:rPr lang="en-US" b="1" dirty="0">
                <a:solidFill>
                  <a:srgbClr val="002060"/>
                </a:solidFill>
              </a:rPr>
              <a:t>HTTP 200 OK</a:t>
            </a:r>
            <a:r>
              <a:rPr lang="en-US" dirty="0">
                <a:solidFill>
                  <a:srgbClr val="002060"/>
                </a:solidFill>
              </a:rPr>
              <a:t> status code and a success message back to the React frontend.</a:t>
            </a:r>
          </a:p>
          <a:p>
            <a:pPr>
              <a:buFont typeface="Arial" panose="020B0604020202020204" pitchFamily="34" charset="0"/>
              <a:buChar char="•"/>
            </a:pPr>
            <a:r>
              <a:rPr lang="en-US" b="1" dirty="0">
                <a:solidFill>
                  <a:srgbClr val="002060"/>
                </a:solidFill>
              </a:rPr>
              <a:t>State Update:</a:t>
            </a:r>
            <a:r>
              <a:rPr lang="en-US" dirty="0">
                <a:solidFill>
                  <a:srgbClr val="002060"/>
                </a:solidFill>
              </a:rPr>
              <a:t> The frontend receives the response; if successful, it store the user's session and once the user signs in, it returns a </a:t>
            </a:r>
            <a:r>
              <a:rPr lang="en-US" b="1" dirty="0">
                <a:solidFill>
                  <a:srgbClr val="002060"/>
                </a:solidFill>
              </a:rPr>
              <a:t>JWT token</a:t>
            </a:r>
            <a:r>
              <a:rPr lang="en-US" dirty="0">
                <a:solidFill>
                  <a:srgbClr val="002060"/>
                </a:solidFill>
              </a:rPr>
              <a:t>(useful for authorization of further employee functions).</a:t>
            </a:r>
          </a:p>
          <a:p>
            <a:pPr>
              <a:buFont typeface="Arial" panose="020B0604020202020204" pitchFamily="34" charset="0"/>
              <a:buChar char="•"/>
            </a:pPr>
            <a:r>
              <a:rPr lang="en-US" b="1" dirty="0">
                <a:solidFill>
                  <a:srgbClr val="002060"/>
                </a:solidFill>
              </a:rPr>
              <a:t>Final Redirection:</a:t>
            </a:r>
            <a:r>
              <a:rPr lang="en-US" dirty="0">
                <a:solidFill>
                  <a:srgbClr val="002060"/>
                </a:solidFill>
              </a:rPr>
              <a:t> The React application navigates the user from the login page to the </a:t>
            </a:r>
            <a:r>
              <a:rPr lang="en-US" b="1" dirty="0">
                <a:solidFill>
                  <a:srgbClr val="002060"/>
                </a:solidFill>
              </a:rPr>
              <a:t>Employee Dashboard</a:t>
            </a:r>
            <a:r>
              <a:rPr lang="en-US" dirty="0">
                <a:solidFill>
                  <a:srgbClr val="002060"/>
                </a:solidFill>
              </a:rPr>
              <a:t> (</a:t>
            </a:r>
            <a:r>
              <a:rPr lang="en-US" dirty="0">
                <a:solidFill>
                  <a:srgbClr val="002060"/>
                </a:solidFill>
                <a:latin typeface="Courier New" panose="02070309020205020404" pitchFamily="49" charset="0"/>
              </a:rPr>
              <a:t>/employee/dashboard</a:t>
            </a:r>
            <a:r>
              <a:rPr lang="en-US" dirty="0">
                <a:solidFill>
                  <a:srgbClr val="002060"/>
                </a:solidFill>
              </a:rPr>
              <a:t>).</a:t>
            </a:r>
          </a:p>
        </p:txBody>
      </p:sp>
      <p:pic>
        <p:nvPicPr>
          <p:cNvPr id="7" name="Picture 6">
            <a:extLst>
              <a:ext uri="{FF2B5EF4-FFF2-40B4-BE49-F238E27FC236}">
                <a16:creationId xmlns:a16="http://schemas.microsoft.com/office/drawing/2014/main" id="{5D23D354-EC35-B78B-0EFB-7C116F51D3C3}"/>
              </a:ext>
            </a:extLst>
          </p:cNvPr>
          <p:cNvPicPr>
            <a:picLocks noChangeAspect="1"/>
          </p:cNvPicPr>
          <p:nvPr/>
        </p:nvPicPr>
        <p:blipFill>
          <a:blip r:embed="rId3"/>
          <a:stretch>
            <a:fillRect/>
          </a:stretch>
        </p:blipFill>
        <p:spPr>
          <a:xfrm>
            <a:off x="7279639" y="3502417"/>
            <a:ext cx="4752975" cy="3203092"/>
          </a:xfrm>
          <a:prstGeom prst="rect">
            <a:avLst/>
          </a:prstGeom>
        </p:spPr>
      </p:pic>
      <p:sp>
        <p:nvSpPr>
          <p:cNvPr id="10" name="Oval 9">
            <a:extLst>
              <a:ext uri="{FF2B5EF4-FFF2-40B4-BE49-F238E27FC236}">
                <a16:creationId xmlns:a16="http://schemas.microsoft.com/office/drawing/2014/main" id="{829923FC-1E1A-51DD-071D-4DCECE716B3D}"/>
              </a:ext>
            </a:extLst>
          </p:cNvPr>
          <p:cNvSpPr/>
          <p:nvPr/>
        </p:nvSpPr>
        <p:spPr>
          <a:xfrm>
            <a:off x="1905001" y="4562475"/>
            <a:ext cx="438150" cy="4286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9</a:t>
            </a:r>
            <a:endParaRPr lang="en-IN" dirty="0"/>
          </a:p>
        </p:txBody>
      </p:sp>
      <p:sp>
        <p:nvSpPr>
          <p:cNvPr id="11" name="TextBox 10">
            <a:extLst>
              <a:ext uri="{FF2B5EF4-FFF2-40B4-BE49-F238E27FC236}">
                <a16:creationId xmlns:a16="http://schemas.microsoft.com/office/drawing/2014/main" id="{C8B53B98-E5EF-AC68-2AD9-33BE74593E5F}"/>
              </a:ext>
            </a:extLst>
          </p:cNvPr>
          <p:cNvSpPr txBox="1"/>
          <p:nvPr/>
        </p:nvSpPr>
        <p:spPr>
          <a:xfrm>
            <a:off x="2371725" y="4524375"/>
            <a:ext cx="4968027" cy="1477328"/>
          </a:xfrm>
          <a:prstGeom prst="rect">
            <a:avLst/>
          </a:prstGeom>
          <a:noFill/>
        </p:spPr>
        <p:txBody>
          <a:bodyPr wrap="none" rtlCol="0">
            <a:spAutoFit/>
          </a:bodyPr>
          <a:lstStyle/>
          <a:p>
            <a:r>
              <a:rPr lang="en-US" dirty="0"/>
              <a:t>Above shown is the picture of postman</a:t>
            </a:r>
            <a:br>
              <a:rPr lang="en-US" dirty="0"/>
            </a:br>
            <a:r>
              <a:rPr lang="en-US" dirty="0"/>
              <a:t>console which shows the http response </a:t>
            </a:r>
            <a:br>
              <a:rPr lang="en-US" dirty="0"/>
            </a:br>
            <a:r>
              <a:rPr lang="en-US" dirty="0"/>
              <a:t>from backend as we create the employee</a:t>
            </a:r>
            <a:br>
              <a:rPr lang="en-US" dirty="0"/>
            </a:br>
            <a:r>
              <a:rPr lang="en-US" dirty="0"/>
              <a:t>while on frontend react redirects us to the</a:t>
            </a:r>
            <a:br>
              <a:rPr lang="en-US" dirty="0"/>
            </a:br>
            <a:r>
              <a:rPr lang="en-US" dirty="0"/>
              <a:t>employee login page.</a:t>
            </a:r>
            <a:endParaRPr lang="en-IN" dirty="0"/>
          </a:p>
        </p:txBody>
      </p:sp>
      <p:sp>
        <p:nvSpPr>
          <p:cNvPr id="12" name="Rectangle 11">
            <a:extLst>
              <a:ext uri="{FF2B5EF4-FFF2-40B4-BE49-F238E27FC236}">
                <a16:creationId xmlns:a16="http://schemas.microsoft.com/office/drawing/2014/main" id="{16A1CCBC-548D-03E4-9E50-50F9019A2EAD}"/>
              </a:ext>
            </a:extLst>
          </p:cNvPr>
          <p:cNvSpPr/>
          <p:nvPr/>
        </p:nvSpPr>
        <p:spPr>
          <a:xfrm>
            <a:off x="7534275" y="2933700"/>
            <a:ext cx="971550" cy="27585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4941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112CD5-5251-EF26-A1B1-357C2B76C7F3}"/>
              </a:ext>
            </a:extLst>
          </p:cNvPr>
          <p:cNvPicPr>
            <a:picLocks noChangeAspect="1"/>
          </p:cNvPicPr>
          <p:nvPr/>
        </p:nvPicPr>
        <p:blipFill>
          <a:blip r:embed="rId2"/>
          <a:stretch>
            <a:fillRect/>
          </a:stretch>
        </p:blipFill>
        <p:spPr>
          <a:xfrm>
            <a:off x="153029" y="4071345"/>
            <a:ext cx="11220450" cy="2525310"/>
          </a:xfrm>
          <a:prstGeom prst="rect">
            <a:avLst/>
          </a:prstGeom>
        </p:spPr>
      </p:pic>
      <p:pic>
        <p:nvPicPr>
          <p:cNvPr id="9" name="Picture 8">
            <a:extLst>
              <a:ext uri="{FF2B5EF4-FFF2-40B4-BE49-F238E27FC236}">
                <a16:creationId xmlns:a16="http://schemas.microsoft.com/office/drawing/2014/main" id="{1EC94325-7909-21A4-9F90-69BA050B0726}"/>
              </a:ext>
            </a:extLst>
          </p:cNvPr>
          <p:cNvPicPr>
            <a:picLocks noChangeAspect="1"/>
          </p:cNvPicPr>
          <p:nvPr/>
        </p:nvPicPr>
        <p:blipFill>
          <a:blip r:embed="rId3"/>
          <a:stretch>
            <a:fillRect/>
          </a:stretch>
        </p:blipFill>
        <p:spPr>
          <a:xfrm>
            <a:off x="153029" y="142875"/>
            <a:ext cx="8600446" cy="3754549"/>
          </a:xfrm>
          <a:prstGeom prst="rect">
            <a:avLst/>
          </a:prstGeom>
        </p:spPr>
      </p:pic>
      <p:sp>
        <p:nvSpPr>
          <p:cNvPr id="4" name="Oval 3">
            <a:extLst>
              <a:ext uri="{FF2B5EF4-FFF2-40B4-BE49-F238E27FC236}">
                <a16:creationId xmlns:a16="http://schemas.microsoft.com/office/drawing/2014/main" id="{4526315D-BB92-5D23-7185-F1A78FACEF39}"/>
              </a:ext>
            </a:extLst>
          </p:cNvPr>
          <p:cNvSpPr/>
          <p:nvPr/>
        </p:nvSpPr>
        <p:spPr>
          <a:xfrm>
            <a:off x="8872538" y="142875"/>
            <a:ext cx="657226" cy="6191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a:t>
            </a:r>
            <a:endParaRPr lang="en-IN" dirty="0"/>
          </a:p>
        </p:txBody>
      </p:sp>
      <p:sp>
        <p:nvSpPr>
          <p:cNvPr id="5" name="TextBox 4">
            <a:extLst>
              <a:ext uri="{FF2B5EF4-FFF2-40B4-BE49-F238E27FC236}">
                <a16:creationId xmlns:a16="http://schemas.microsoft.com/office/drawing/2014/main" id="{116A6109-B9BE-02B4-67E8-BCF9633739D3}"/>
              </a:ext>
            </a:extLst>
          </p:cNvPr>
          <p:cNvSpPr txBox="1"/>
          <p:nvPr/>
        </p:nvSpPr>
        <p:spPr>
          <a:xfrm>
            <a:off x="9529764" y="138113"/>
            <a:ext cx="2543174" cy="3970318"/>
          </a:xfrm>
          <a:prstGeom prst="rect">
            <a:avLst/>
          </a:prstGeom>
          <a:noFill/>
        </p:spPr>
        <p:txBody>
          <a:bodyPr wrap="square" rtlCol="0">
            <a:spAutoFit/>
          </a:bodyPr>
          <a:lstStyle/>
          <a:p>
            <a:r>
              <a:rPr lang="en-US" dirty="0">
                <a:solidFill>
                  <a:srgbClr val="002060"/>
                </a:solidFill>
              </a:rPr>
              <a:t>As soon as from frontend we click on log in after filling our credentials </a:t>
            </a:r>
            <a:br>
              <a:rPr lang="en-US" dirty="0">
                <a:solidFill>
                  <a:srgbClr val="002060"/>
                </a:solidFill>
              </a:rPr>
            </a:br>
            <a:r>
              <a:rPr lang="en-US" dirty="0">
                <a:solidFill>
                  <a:srgbClr val="002060"/>
                </a:solidFill>
              </a:rPr>
              <a:t>we are redirected to the dashboard in frontend and at backend </a:t>
            </a:r>
            <a:br>
              <a:rPr lang="en-US" dirty="0">
                <a:solidFill>
                  <a:srgbClr val="002060"/>
                </a:solidFill>
              </a:rPr>
            </a:br>
            <a:r>
              <a:rPr lang="en-US" dirty="0" err="1">
                <a:solidFill>
                  <a:srgbClr val="002060"/>
                </a:solidFill>
              </a:rPr>
              <a:t>SpringBoot</a:t>
            </a:r>
            <a:r>
              <a:rPr lang="en-US" dirty="0">
                <a:solidFill>
                  <a:srgbClr val="002060"/>
                </a:solidFill>
              </a:rPr>
              <a:t> provides the JWT token which is used for any</a:t>
            </a:r>
            <a:br>
              <a:rPr lang="en-US" dirty="0">
                <a:solidFill>
                  <a:srgbClr val="002060"/>
                </a:solidFill>
              </a:rPr>
            </a:br>
            <a:r>
              <a:rPr lang="en-US" dirty="0">
                <a:solidFill>
                  <a:srgbClr val="002060"/>
                </a:solidFill>
              </a:rPr>
              <a:t>further claims or policies that employees do.</a:t>
            </a:r>
            <a:endParaRPr lang="en-IN" dirty="0">
              <a:solidFill>
                <a:srgbClr val="002060"/>
              </a:solidFill>
            </a:endParaRPr>
          </a:p>
        </p:txBody>
      </p:sp>
      <p:sp>
        <p:nvSpPr>
          <p:cNvPr id="6" name="Rectangle 5">
            <a:extLst>
              <a:ext uri="{FF2B5EF4-FFF2-40B4-BE49-F238E27FC236}">
                <a16:creationId xmlns:a16="http://schemas.microsoft.com/office/drawing/2014/main" id="{486DF04C-680B-67C6-77B8-656E99988FB5}"/>
              </a:ext>
            </a:extLst>
          </p:cNvPr>
          <p:cNvSpPr/>
          <p:nvPr/>
        </p:nvSpPr>
        <p:spPr>
          <a:xfrm>
            <a:off x="1011677" y="5334000"/>
            <a:ext cx="9698476" cy="37613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07835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8DDD28-D578-B992-3CF2-7CEEB996C411}"/>
              </a:ext>
            </a:extLst>
          </p:cNvPr>
          <p:cNvSpPr txBox="1"/>
          <p:nvPr/>
        </p:nvSpPr>
        <p:spPr>
          <a:xfrm>
            <a:off x="866775" y="100549"/>
            <a:ext cx="9915525" cy="5909310"/>
          </a:xfrm>
          <a:prstGeom prst="rect">
            <a:avLst/>
          </a:prstGeom>
          <a:noFill/>
        </p:spPr>
        <p:txBody>
          <a:bodyPr wrap="square">
            <a:spAutoFit/>
          </a:bodyPr>
          <a:lstStyle/>
          <a:p>
            <a:pPr algn="ctr">
              <a:buNone/>
            </a:pPr>
            <a:r>
              <a:rPr lang="en-US" sz="2000" b="1" dirty="0">
                <a:solidFill>
                  <a:schemeClr val="accent1"/>
                </a:solidFill>
              </a:rPr>
              <a:t>Optimizing User Access &amp; Navigation</a:t>
            </a:r>
          </a:p>
          <a:p>
            <a:pPr algn="ctr">
              <a:buNone/>
            </a:pPr>
            <a:endParaRPr lang="en-US" b="1" dirty="0">
              <a:solidFill>
                <a:schemeClr val="accent1"/>
              </a:solidFill>
            </a:endParaRPr>
          </a:p>
          <a:p>
            <a:pPr>
              <a:buNone/>
            </a:pPr>
            <a:r>
              <a:rPr lang="en-US" b="1" dirty="0">
                <a:solidFill>
                  <a:srgbClr val="002060"/>
                </a:solidFill>
              </a:rPr>
              <a:t>The Problem: "Hidden" Entry Points</a:t>
            </a:r>
          </a:p>
          <a:p>
            <a:pPr>
              <a:buFont typeface="Arial" panose="020B0604020202020204" pitchFamily="34" charset="0"/>
              <a:buChar char="•"/>
            </a:pPr>
            <a:r>
              <a:rPr lang="en-US" b="1" dirty="0">
                <a:solidFill>
                  <a:srgbClr val="002060"/>
                </a:solidFill>
              </a:rPr>
              <a:t>Manual URL Entry:</a:t>
            </a:r>
            <a:r>
              <a:rPr lang="en-US" dirty="0">
                <a:solidFill>
                  <a:srgbClr val="002060"/>
                </a:solidFill>
              </a:rPr>
              <a:t> Previously, the system relied on users knowing specific endpoints (e.g., </a:t>
            </a:r>
            <a:r>
              <a:rPr lang="en-US" dirty="0">
                <a:solidFill>
                  <a:srgbClr val="002060"/>
                </a:solidFill>
                <a:latin typeface="Courier New" panose="02070309020205020404" pitchFamily="49" charset="0"/>
              </a:rPr>
              <a:t>/agent/login</a:t>
            </a:r>
            <a:r>
              <a:rPr lang="en-US" dirty="0">
                <a:solidFill>
                  <a:srgbClr val="002060"/>
                </a:solidFill>
              </a:rPr>
              <a:t> or </a:t>
            </a:r>
            <a:r>
              <a:rPr lang="en-US" dirty="0">
                <a:solidFill>
                  <a:srgbClr val="002060"/>
                </a:solidFill>
                <a:latin typeface="Courier New" panose="02070309020205020404" pitchFamily="49" charset="0"/>
              </a:rPr>
              <a:t>/</a:t>
            </a:r>
            <a:r>
              <a:rPr lang="en-US" dirty="0" err="1">
                <a:solidFill>
                  <a:srgbClr val="002060"/>
                </a:solidFill>
                <a:latin typeface="Courier New" panose="02070309020205020404" pitchFamily="49" charset="0"/>
              </a:rPr>
              <a:t>hr</a:t>
            </a:r>
            <a:r>
              <a:rPr lang="en-US" dirty="0">
                <a:solidFill>
                  <a:srgbClr val="002060"/>
                </a:solidFill>
                <a:latin typeface="Courier New" panose="02070309020205020404" pitchFamily="49" charset="0"/>
              </a:rPr>
              <a:t>/login</a:t>
            </a:r>
            <a:r>
              <a:rPr lang="en-US" dirty="0">
                <a:solidFill>
                  <a:srgbClr val="002060"/>
                </a:solidFill>
              </a:rPr>
              <a:t>).</a:t>
            </a:r>
          </a:p>
          <a:p>
            <a:pPr>
              <a:buFont typeface="Arial" panose="020B0604020202020204" pitchFamily="34" charset="0"/>
              <a:buChar char="•"/>
            </a:pPr>
            <a:r>
              <a:rPr lang="en-US" b="1" dirty="0">
                <a:solidFill>
                  <a:srgbClr val="002060"/>
                </a:solidFill>
              </a:rPr>
              <a:t>High Cognitive Load:</a:t>
            </a:r>
            <a:r>
              <a:rPr lang="en-US" dirty="0">
                <a:solidFill>
                  <a:srgbClr val="002060"/>
                </a:solidFill>
              </a:rPr>
              <a:t> Employees, Agents, and HR staff had to memorize or bookmark different URLs, leading to confusion and support requests.</a:t>
            </a:r>
          </a:p>
          <a:p>
            <a:pPr>
              <a:buFont typeface="Arial" panose="020B0604020202020204" pitchFamily="34" charset="0"/>
              <a:buChar char="•"/>
            </a:pPr>
            <a:r>
              <a:rPr lang="en-US" b="1" dirty="0">
                <a:solidFill>
                  <a:srgbClr val="002060"/>
                </a:solidFill>
              </a:rPr>
              <a:t>Security &amp; Friction:</a:t>
            </a:r>
            <a:r>
              <a:rPr lang="en-US" dirty="0">
                <a:solidFill>
                  <a:srgbClr val="002060"/>
                </a:solidFill>
              </a:rPr>
              <a:t> Lack of a centralized "Entry Gate" made the system feel disconnected and increased the risk of users landing on unauthorized routes.</a:t>
            </a:r>
          </a:p>
          <a:p>
            <a:pPr>
              <a:buNone/>
            </a:pPr>
            <a:br>
              <a:rPr lang="en-US" dirty="0">
                <a:solidFill>
                  <a:srgbClr val="002060"/>
                </a:solidFill>
              </a:rPr>
            </a:br>
            <a:endParaRPr lang="en-US" dirty="0">
              <a:solidFill>
                <a:srgbClr val="002060"/>
              </a:solidFill>
            </a:endParaRPr>
          </a:p>
          <a:p>
            <a:pPr>
              <a:buNone/>
            </a:pPr>
            <a:r>
              <a:rPr lang="en-US" b="1" dirty="0">
                <a:solidFill>
                  <a:srgbClr val="002060"/>
                </a:solidFill>
              </a:rPr>
              <a:t>The Solution: Unified Gateway &amp; Redirect Logic</a:t>
            </a:r>
          </a:p>
          <a:p>
            <a:pPr>
              <a:buFont typeface="Arial" panose="020B0604020202020204" pitchFamily="34" charset="0"/>
              <a:buChar char="•"/>
            </a:pPr>
            <a:r>
              <a:rPr lang="en-US" b="1" dirty="0">
                <a:solidFill>
                  <a:srgbClr val="002060"/>
                </a:solidFill>
              </a:rPr>
              <a:t>Centralized Login Hub:</a:t>
            </a:r>
            <a:r>
              <a:rPr lang="en-US" dirty="0">
                <a:solidFill>
                  <a:srgbClr val="002060"/>
                </a:solidFill>
              </a:rPr>
              <a:t> Updated the main Employee Login page to act as the primary "Gateway" for all corporate personas.</a:t>
            </a:r>
          </a:p>
          <a:p>
            <a:pPr>
              <a:buFont typeface="Arial" panose="020B0604020202020204" pitchFamily="34" charset="0"/>
              <a:buChar char="•"/>
            </a:pPr>
            <a:r>
              <a:rPr lang="en-US" b="1" dirty="0">
                <a:solidFill>
                  <a:srgbClr val="002060"/>
                </a:solidFill>
              </a:rPr>
              <a:t>One-Click Redirection:</a:t>
            </a:r>
            <a:r>
              <a:rPr lang="en-US" dirty="0">
                <a:solidFill>
                  <a:srgbClr val="002060"/>
                </a:solidFill>
              </a:rPr>
              <a:t> Integrated distinct, intuitive redirect links for </a:t>
            </a:r>
            <a:r>
              <a:rPr lang="en-US" b="1" dirty="0">
                <a:solidFill>
                  <a:srgbClr val="002060"/>
                </a:solidFill>
              </a:rPr>
              <a:t>Agent</a:t>
            </a:r>
            <a:r>
              <a:rPr lang="en-US" dirty="0">
                <a:solidFill>
                  <a:srgbClr val="002060"/>
                </a:solidFill>
              </a:rPr>
              <a:t> and </a:t>
            </a:r>
            <a:r>
              <a:rPr lang="en-US" b="1" dirty="0">
                <a:solidFill>
                  <a:srgbClr val="002060"/>
                </a:solidFill>
              </a:rPr>
              <a:t>HR</a:t>
            </a:r>
            <a:r>
              <a:rPr lang="en-US" dirty="0">
                <a:solidFill>
                  <a:srgbClr val="002060"/>
                </a:solidFill>
              </a:rPr>
              <a:t> roles directly on the main UI.</a:t>
            </a:r>
          </a:p>
          <a:p>
            <a:pPr>
              <a:buFont typeface="Arial" panose="020B0604020202020204" pitchFamily="34" charset="0"/>
              <a:buChar char="•"/>
            </a:pPr>
            <a:r>
              <a:rPr lang="en-US" b="1" dirty="0">
                <a:solidFill>
                  <a:srgbClr val="002060"/>
                </a:solidFill>
              </a:rPr>
              <a:t>Improved UX Flow:</a:t>
            </a:r>
            <a:endParaRPr lang="en-US" dirty="0">
              <a:solidFill>
                <a:srgbClr val="002060"/>
              </a:solidFill>
            </a:endParaRPr>
          </a:p>
          <a:p>
            <a:pPr marL="742950" lvl="1" indent="-285750">
              <a:buFont typeface="Arial" panose="020B0604020202020204" pitchFamily="34" charset="0"/>
              <a:buChar char="•"/>
            </a:pPr>
            <a:r>
              <a:rPr lang="en-US" dirty="0">
                <a:solidFill>
                  <a:srgbClr val="002060"/>
                </a:solidFill>
              </a:rPr>
              <a:t>User arrives at the standard login portal.</a:t>
            </a:r>
          </a:p>
          <a:p>
            <a:pPr marL="742950" lvl="1" indent="-285750">
              <a:buFont typeface="Arial" panose="020B0604020202020204" pitchFamily="34" charset="0"/>
              <a:buChar char="•"/>
            </a:pPr>
            <a:r>
              <a:rPr lang="en-US" dirty="0">
                <a:solidFill>
                  <a:srgbClr val="002060"/>
                </a:solidFill>
              </a:rPr>
              <a:t>User identifies their role via clear visual triggers (Links/Buttons).</a:t>
            </a:r>
          </a:p>
          <a:p>
            <a:pPr marL="742950" lvl="1" indent="-285750">
              <a:buFont typeface="Arial" panose="020B0604020202020204" pitchFamily="34" charset="0"/>
              <a:buChar char="•"/>
            </a:pPr>
            <a:r>
              <a:rPr lang="en-US" dirty="0">
                <a:solidFill>
                  <a:srgbClr val="002060"/>
                </a:solidFill>
              </a:rPr>
              <a:t>The system handles the route transition instantly, ensuring the user is on the correct authentication path</a:t>
            </a:r>
            <a:r>
              <a:rPr lang="en-US" dirty="0"/>
              <a:t>.</a:t>
            </a:r>
          </a:p>
        </p:txBody>
      </p:sp>
    </p:spTree>
    <p:extLst>
      <p:ext uri="{BB962C8B-B14F-4D97-AF65-F5344CB8AC3E}">
        <p14:creationId xmlns:p14="http://schemas.microsoft.com/office/powerpoint/2010/main" val="1329157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60FABD-886A-C46D-8436-451FC6E51E88}"/>
              </a:ext>
            </a:extLst>
          </p:cNvPr>
          <p:cNvPicPr>
            <a:picLocks noChangeAspect="1"/>
          </p:cNvPicPr>
          <p:nvPr/>
        </p:nvPicPr>
        <p:blipFill>
          <a:blip r:embed="rId2"/>
          <a:stretch>
            <a:fillRect/>
          </a:stretch>
        </p:blipFill>
        <p:spPr>
          <a:xfrm>
            <a:off x="6426143" y="219075"/>
            <a:ext cx="5218628" cy="3903080"/>
          </a:xfrm>
          <a:prstGeom prst="rect">
            <a:avLst/>
          </a:prstGeom>
        </p:spPr>
      </p:pic>
      <p:pic>
        <p:nvPicPr>
          <p:cNvPr id="5" name="Picture 4">
            <a:extLst>
              <a:ext uri="{FF2B5EF4-FFF2-40B4-BE49-F238E27FC236}">
                <a16:creationId xmlns:a16="http://schemas.microsoft.com/office/drawing/2014/main" id="{B0970469-82DA-46D3-C3A9-6FA165E7385F}"/>
              </a:ext>
            </a:extLst>
          </p:cNvPr>
          <p:cNvPicPr>
            <a:picLocks noChangeAspect="1"/>
          </p:cNvPicPr>
          <p:nvPr/>
        </p:nvPicPr>
        <p:blipFill>
          <a:blip r:embed="rId3"/>
          <a:stretch>
            <a:fillRect/>
          </a:stretch>
        </p:blipFill>
        <p:spPr>
          <a:xfrm>
            <a:off x="126251" y="219075"/>
            <a:ext cx="5218628" cy="3800475"/>
          </a:xfrm>
          <a:prstGeom prst="rect">
            <a:avLst/>
          </a:prstGeom>
        </p:spPr>
      </p:pic>
      <p:sp>
        <p:nvSpPr>
          <p:cNvPr id="6" name="Arrow: Right 5">
            <a:extLst>
              <a:ext uri="{FF2B5EF4-FFF2-40B4-BE49-F238E27FC236}">
                <a16:creationId xmlns:a16="http://schemas.microsoft.com/office/drawing/2014/main" id="{9FA11978-5C05-3FE8-4C60-1285C462581C}"/>
              </a:ext>
            </a:extLst>
          </p:cNvPr>
          <p:cNvSpPr/>
          <p:nvPr/>
        </p:nvSpPr>
        <p:spPr>
          <a:xfrm>
            <a:off x="5467350" y="1914525"/>
            <a:ext cx="809625" cy="1619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5C9BA8B7-7013-389D-84AC-A339CC20771C}"/>
              </a:ext>
            </a:extLst>
          </p:cNvPr>
          <p:cNvSpPr/>
          <p:nvPr/>
        </p:nvSpPr>
        <p:spPr>
          <a:xfrm>
            <a:off x="9591675" y="3181350"/>
            <a:ext cx="1019175" cy="21907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63D6806D-332B-79F7-CE44-F503CF835183}"/>
              </a:ext>
            </a:extLst>
          </p:cNvPr>
          <p:cNvSpPr txBox="1"/>
          <p:nvPr/>
        </p:nvSpPr>
        <p:spPr>
          <a:xfrm>
            <a:off x="533400" y="4193739"/>
            <a:ext cx="8624887" cy="2308324"/>
          </a:xfrm>
          <a:prstGeom prst="rect">
            <a:avLst/>
          </a:prstGeom>
          <a:noFill/>
        </p:spPr>
        <p:txBody>
          <a:bodyPr wrap="square">
            <a:spAutoFit/>
          </a:bodyPr>
          <a:lstStyle/>
          <a:p>
            <a:pPr>
              <a:buNone/>
            </a:pPr>
            <a:r>
              <a:rPr lang="en-US" b="1" dirty="0">
                <a:solidFill>
                  <a:schemeClr val="accent1">
                    <a:lumMod val="50000"/>
                  </a:schemeClr>
                </a:solidFill>
              </a:rPr>
              <a:t>Impact &amp; Benefits</a:t>
            </a:r>
          </a:p>
          <a:p>
            <a:pPr>
              <a:buNone/>
            </a:pPr>
            <a:endParaRPr lang="en-US" b="1" dirty="0">
              <a:solidFill>
                <a:srgbClr val="002060"/>
              </a:solidFill>
            </a:endParaRPr>
          </a:p>
          <a:p>
            <a:pPr>
              <a:buFont typeface="Arial" panose="020B0604020202020204" pitchFamily="34" charset="0"/>
              <a:buChar char="•"/>
            </a:pPr>
            <a:r>
              <a:rPr lang="en-US" b="1" dirty="0">
                <a:solidFill>
                  <a:srgbClr val="002060"/>
                </a:solidFill>
              </a:rPr>
              <a:t>Zero Memorization:</a:t>
            </a:r>
            <a:r>
              <a:rPr lang="en-US" dirty="0">
                <a:solidFill>
                  <a:srgbClr val="002060"/>
                </a:solidFill>
              </a:rPr>
              <a:t> Eliminated the need for staff to remember complex technical URLs.</a:t>
            </a:r>
          </a:p>
          <a:p>
            <a:pPr>
              <a:buFont typeface="Arial" panose="020B0604020202020204" pitchFamily="34" charset="0"/>
              <a:buChar char="•"/>
            </a:pPr>
            <a:r>
              <a:rPr lang="en-US" b="1" dirty="0">
                <a:solidFill>
                  <a:srgbClr val="002060"/>
                </a:solidFill>
              </a:rPr>
              <a:t>Seamless Onboarding:</a:t>
            </a:r>
            <a:r>
              <a:rPr lang="en-US" dirty="0">
                <a:solidFill>
                  <a:srgbClr val="002060"/>
                </a:solidFill>
              </a:rPr>
              <a:t> New Agents and HR staff can navigate the system immediately without training on "where to go."</a:t>
            </a:r>
          </a:p>
          <a:p>
            <a:pPr>
              <a:buFont typeface="Arial" panose="020B0604020202020204" pitchFamily="34" charset="0"/>
              <a:buChar char="•"/>
            </a:pPr>
            <a:r>
              <a:rPr lang="en-US" b="1" dirty="0">
                <a:solidFill>
                  <a:srgbClr val="002060"/>
                </a:solidFill>
              </a:rPr>
              <a:t>Professional UI:</a:t>
            </a:r>
            <a:r>
              <a:rPr lang="en-US" dirty="0">
                <a:solidFill>
                  <a:srgbClr val="002060"/>
                </a:solidFill>
              </a:rPr>
              <a:t> Transformed the login experience from a "technical interface" into a polished, corporate-grade application.</a:t>
            </a:r>
          </a:p>
        </p:txBody>
      </p:sp>
    </p:spTree>
    <p:extLst>
      <p:ext uri="{BB962C8B-B14F-4D97-AF65-F5344CB8AC3E}">
        <p14:creationId xmlns:p14="http://schemas.microsoft.com/office/powerpoint/2010/main" val="3376561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ABF7D2-89D1-45DE-8235-968473B93CEE}"/>
              </a:ext>
            </a:extLst>
          </p:cNvPr>
          <p:cNvSpPr txBox="1"/>
          <p:nvPr/>
        </p:nvSpPr>
        <p:spPr>
          <a:xfrm>
            <a:off x="962024" y="474345"/>
            <a:ext cx="10258425" cy="4862870"/>
          </a:xfrm>
          <a:prstGeom prst="rect">
            <a:avLst/>
          </a:prstGeom>
          <a:noFill/>
        </p:spPr>
        <p:txBody>
          <a:bodyPr wrap="square">
            <a:spAutoFit/>
          </a:bodyPr>
          <a:lstStyle/>
          <a:p>
            <a:pPr algn="ctr">
              <a:buNone/>
            </a:pPr>
            <a:r>
              <a:rPr lang="en-US" sz="2000" b="1" dirty="0">
                <a:solidFill>
                  <a:schemeClr val="accent1"/>
                </a:solidFill>
              </a:rPr>
              <a:t>CONCLUSION</a:t>
            </a:r>
          </a:p>
          <a:p>
            <a:pPr algn="ctr">
              <a:buNone/>
            </a:pPr>
            <a:endParaRPr lang="en-US" sz="2000" b="1" dirty="0">
              <a:solidFill>
                <a:srgbClr val="002060"/>
              </a:solidFill>
            </a:endParaRPr>
          </a:p>
          <a:p>
            <a:pPr>
              <a:buNone/>
            </a:pPr>
            <a:r>
              <a:rPr lang="en-US" b="1" dirty="0">
                <a:solidFill>
                  <a:srgbClr val="002060"/>
                </a:solidFill>
              </a:rPr>
              <a:t>Backend Robustness</a:t>
            </a:r>
          </a:p>
          <a:p>
            <a:pPr>
              <a:buFont typeface="Arial" panose="020B0604020202020204" pitchFamily="34" charset="0"/>
              <a:buChar char="•"/>
            </a:pPr>
            <a:r>
              <a:rPr lang="en-US" b="1" dirty="0">
                <a:solidFill>
                  <a:srgbClr val="002060"/>
                </a:solidFill>
              </a:rPr>
              <a:t>Core API Development:</a:t>
            </a:r>
            <a:r>
              <a:rPr lang="en-US" dirty="0">
                <a:solidFill>
                  <a:srgbClr val="002060"/>
                </a:solidFill>
              </a:rPr>
              <a:t> Successfully implemented the Spring Boot REST controllers and service layers to manage core "</a:t>
            </a:r>
            <a:r>
              <a:rPr lang="en-US" dirty="0" err="1">
                <a:solidFill>
                  <a:srgbClr val="002060"/>
                </a:solidFill>
              </a:rPr>
              <a:t>InsurAI</a:t>
            </a:r>
            <a:r>
              <a:rPr lang="en-US" dirty="0">
                <a:solidFill>
                  <a:srgbClr val="002060"/>
                </a:solidFill>
              </a:rPr>
              <a:t>" business logic.</a:t>
            </a:r>
          </a:p>
          <a:p>
            <a:pPr>
              <a:buFont typeface="Arial" panose="020B0604020202020204" pitchFamily="34" charset="0"/>
              <a:buChar char="•"/>
            </a:pPr>
            <a:r>
              <a:rPr lang="en-US" b="1" dirty="0">
                <a:solidFill>
                  <a:srgbClr val="002060"/>
                </a:solidFill>
              </a:rPr>
              <a:t>Database Integration:</a:t>
            </a:r>
            <a:r>
              <a:rPr lang="en-US" dirty="0">
                <a:solidFill>
                  <a:srgbClr val="002060"/>
                </a:solidFill>
              </a:rPr>
              <a:t> Established a secure connection with </a:t>
            </a:r>
            <a:r>
              <a:rPr lang="en-US" b="1" dirty="0" err="1">
                <a:solidFill>
                  <a:srgbClr val="002060"/>
                </a:solidFill>
              </a:rPr>
              <a:t>Supabase</a:t>
            </a:r>
            <a:r>
              <a:rPr lang="en-US" b="1" dirty="0">
                <a:solidFill>
                  <a:srgbClr val="002060"/>
                </a:solidFill>
              </a:rPr>
              <a:t> (PostgreSQL)</a:t>
            </a:r>
            <a:r>
              <a:rPr lang="en-US" dirty="0">
                <a:solidFill>
                  <a:srgbClr val="002060"/>
                </a:solidFill>
              </a:rPr>
              <a:t>, ensuring data persistence and integrity for all user roles.</a:t>
            </a:r>
          </a:p>
          <a:p>
            <a:pPr>
              <a:buFont typeface="Arial" panose="020B0604020202020204" pitchFamily="34" charset="0"/>
              <a:buChar char="•"/>
            </a:pPr>
            <a:r>
              <a:rPr lang="en-US" b="1" dirty="0">
                <a:solidFill>
                  <a:srgbClr val="002060"/>
                </a:solidFill>
              </a:rPr>
              <a:t>Service Layer Logic:</a:t>
            </a:r>
            <a:r>
              <a:rPr lang="en-US" dirty="0">
                <a:solidFill>
                  <a:srgbClr val="002060"/>
                </a:solidFill>
              </a:rPr>
              <a:t> Built scalable service components (e.g., </a:t>
            </a:r>
            <a:r>
              <a:rPr lang="en-US" dirty="0" err="1">
                <a:solidFill>
                  <a:srgbClr val="002060"/>
                </a:solidFill>
                <a:latin typeface="Courier New" panose="02070309020205020404" pitchFamily="49" charset="0"/>
              </a:rPr>
              <a:t>AgentService</a:t>
            </a:r>
            <a:r>
              <a:rPr lang="en-US" dirty="0">
                <a:solidFill>
                  <a:srgbClr val="002060"/>
                </a:solidFill>
              </a:rPr>
              <a:t>) to handle data processing independently from the UI.</a:t>
            </a:r>
          </a:p>
          <a:p>
            <a:pPr>
              <a:buFont typeface="Arial" panose="020B0604020202020204" pitchFamily="34" charset="0"/>
              <a:buChar char="•"/>
            </a:pPr>
            <a:endParaRPr lang="en-US" dirty="0">
              <a:solidFill>
                <a:srgbClr val="002060"/>
              </a:solidFill>
            </a:endParaRPr>
          </a:p>
          <a:p>
            <a:pPr>
              <a:buNone/>
            </a:pPr>
            <a:r>
              <a:rPr lang="en-US" b="1" dirty="0">
                <a:solidFill>
                  <a:srgbClr val="002060"/>
                </a:solidFill>
              </a:rPr>
              <a:t>2. UX &amp; Navigation Optimization</a:t>
            </a:r>
          </a:p>
          <a:p>
            <a:pPr>
              <a:buFont typeface="Arial" panose="020B0604020202020204" pitchFamily="34" charset="0"/>
              <a:buChar char="•"/>
            </a:pPr>
            <a:r>
              <a:rPr lang="en-US" b="1" dirty="0">
                <a:solidFill>
                  <a:srgbClr val="002060"/>
                </a:solidFill>
              </a:rPr>
              <a:t>Simplified Access:</a:t>
            </a:r>
            <a:r>
              <a:rPr lang="en-US" dirty="0">
                <a:solidFill>
                  <a:srgbClr val="002060"/>
                </a:solidFill>
              </a:rPr>
              <a:t> Resolved the "URL Memorization" issue by integrating direct redirect links for </a:t>
            </a:r>
            <a:r>
              <a:rPr lang="en-US" b="1" dirty="0">
                <a:solidFill>
                  <a:srgbClr val="002060"/>
                </a:solidFill>
              </a:rPr>
              <a:t>HR</a:t>
            </a:r>
            <a:r>
              <a:rPr lang="en-US" dirty="0">
                <a:solidFill>
                  <a:srgbClr val="002060"/>
                </a:solidFill>
              </a:rPr>
              <a:t> and </a:t>
            </a:r>
            <a:r>
              <a:rPr lang="en-US" b="1" dirty="0">
                <a:solidFill>
                  <a:srgbClr val="002060"/>
                </a:solidFill>
              </a:rPr>
              <a:t>Agent</a:t>
            </a:r>
            <a:r>
              <a:rPr lang="en-US" dirty="0">
                <a:solidFill>
                  <a:srgbClr val="002060"/>
                </a:solidFill>
              </a:rPr>
              <a:t> personas on the primary login page.</a:t>
            </a:r>
          </a:p>
          <a:p>
            <a:pPr>
              <a:buFont typeface="Arial" panose="020B0604020202020204" pitchFamily="34" charset="0"/>
              <a:buChar char="•"/>
            </a:pPr>
            <a:r>
              <a:rPr lang="en-US" b="1" dirty="0">
                <a:solidFill>
                  <a:srgbClr val="002060"/>
                </a:solidFill>
              </a:rPr>
              <a:t>Role-Based Entry Points:</a:t>
            </a:r>
            <a:r>
              <a:rPr lang="en-US" dirty="0">
                <a:solidFill>
                  <a:srgbClr val="002060"/>
                </a:solidFill>
              </a:rPr>
              <a:t> Created a clear visual hierarchy that directs users to their specific authentication routes, reducing friction and entry errors.</a:t>
            </a:r>
          </a:p>
          <a:p>
            <a:pPr>
              <a:buFont typeface="Arial" panose="020B0604020202020204" pitchFamily="34" charset="0"/>
              <a:buChar char="•"/>
            </a:pPr>
            <a:r>
              <a:rPr lang="en-US" b="1" dirty="0">
                <a:solidFill>
                  <a:srgbClr val="002060"/>
                </a:solidFill>
              </a:rPr>
              <a:t>Improved System Flow:</a:t>
            </a:r>
            <a:r>
              <a:rPr lang="en-US" dirty="0">
                <a:solidFill>
                  <a:srgbClr val="002060"/>
                </a:solidFill>
              </a:rPr>
              <a:t> The transition from the Frontend (React) to the Backend authentication filters is now seamless and user-friendly.</a:t>
            </a:r>
          </a:p>
        </p:txBody>
      </p:sp>
    </p:spTree>
    <p:extLst>
      <p:ext uri="{BB962C8B-B14F-4D97-AF65-F5344CB8AC3E}">
        <p14:creationId xmlns:p14="http://schemas.microsoft.com/office/powerpoint/2010/main" val="2405701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D85E3E-F0ED-BDEA-6935-CD8E99815DF9}"/>
              </a:ext>
            </a:extLst>
          </p:cNvPr>
          <p:cNvSpPr txBox="1"/>
          <p:nvPr/>
        </p:nvSpPr>
        <p:spPr>
          <a:xfrm>
            <a:off x="3589410" y="2200275"/>
            <a:ext cx="4902304" cy="1107996"/>
          </a:xfrm>
          <a:prstGeom prst="rect">
            <a:avLst/>
          </a:prstGeom>
          <a:noFill/>
        </p:spPr>
        <p:txBody>
          <a:bodyPr wrap="none" rtlCol="0">
            <a:spAutoFit/>
          </a:bodyPr>
          <a:lstStyle/>
          <a:p>
            <a:pPr algn="ctr"/>
            <a:r>
              <a:rPr lang="en-US" sz="6600" dirty="0">
                <a:solidFill>
                  <a:schemeClr val="accent1"/>
                </a:solidFill>
              </a:rPr>
              <a:t>THANK YOU</a:t>
            </a:r>
            <a:endParaRPr lang="en-IN" sz="6600" dirty="0">
              <a:solidFill>
                <a:schemeClr val="accent1"/>
              </a:solidFill>
            </a:endParaRPr>
          </a:p>
        </p:txBody>
      </p:sp>
    </p:spTree>
    <p:extLst>
      <p:ext uri="{BB962C8B-B14F-4D97-AF65-F5344CB8AC3E}">
        <p14:creationId xmlns:p14="http://schemas.microsoft.com/office/powerpoint/2010/main" val="1800508685"/>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D06F1E"/>
      </a:dk2>
      <a:lt2>
        <a:srgbClr val="F0BE21"/>
      </a:lt2>
      <a:accent1>
        <a:srgbClr val="760603"/>
      </a:accent1>
      <a:accent2>
        <a:srgbClr val="9F761A"/>
      </a:accent2>
      <a:accent3>
        <a:srgbClr val="92A200"/>
      </a:accent3>
      <a:accent4>
        <a:srgbClr val="4AA157"/>
      </a:accent4>
      <a:accent5>
        <a:srgbClr val="46788D"/>
      </a:accent5>
      <a:accent6>
        <a:srgbClr val="A848A8"/>
      </a:accent6>
      <a:hlink>
        <a:srgbClr val="460402"/>
      </a:hlink>
      <a:folHlink>
        <a:srgbClr val="991111"/>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162000"/>
                <a:satMod val="200000"/>
                <a:lumMod val="124000"/>
              </a:schemeClr>
            </a:gs>
            <a:gs pos="100000">
              <a:schemeClr val="phClr">
                <a:shade val="96000"/>
                <a:hueMod val="88000"/>
                <a:satMod val="220000"/>
                <a:lumMod val="82000"/>
              </a:schemeClr>
            </a:gs>
          </a:gsLst>
          <a:lin ang="6120000" scaled="1"/>
        </a:gradFill>
        <a:gradFill rotWithShape="1">
          <a:gsLst>
            <a:gs pos="0">
              <a:schemeClr val="phClr">
                <a:tint val="97000"/>
                <a:hueMod val="142000"/>
                <a:satMod val="200000"/>
                <a:lumMod val="118000"/>
              </a:schemeClr>
            </a:gs>
            <a:gs pos="100000">
              <a:schemeClr val="phClr">
                <a:shade val="92000"/>
                <a:hueMod val="22000"/>
                <a:satMod val="220000"/>
                <a:lumMod val="62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282EB108-EDE6-4B8E-957B-D4A69BF580E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412</TotalTime>
  <Words>1083</Words>
  <Application>Microsoft Office PowerPoint</Application>
  <PresentationFormat>Widescreen</PresentationFormat>
  <Paragraphs>87</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Arial Unicode MS</vt:lpstr>
      <vt:lpstr>Calibri</vt:lpstr>
      <vt:lpstr>Century Gothic</vt:lpstr>
      <vt:lpstr>Courier New</vt:lpstr>
      <vt:lpstr>Wingdings 3</vt:lpstr>
      <vt:lpstr>Slice</vt:lpstr>
      <vt:lpstr>InsurAI Milestone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dutta</dc:creator>
  <cp:lastModifiedBy>Anna dutta</cp:lastModifiedBy>
  <cp:revision>2</cp:revision>
  <dcterms:created xsi:type="dcterms:W3CDTF">2026-01-02T13:25:45Z</dcterms:created>
  <dcterms:modified xsi:type="dcterms:W3CDTF">2026-01-03T07:56:11Z</dcterms:modified>
</cp:coreProperties>
</file>